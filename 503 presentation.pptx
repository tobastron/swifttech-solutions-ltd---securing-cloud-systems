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28403" y="945913"/>
            <a:ext cx="8637073" cy="2618554"/>
          </a:xfrm>
        </p:spPr>
        <p:txBody>
          <a:bodyPr bIns="0" anchor="b">
            <a:normAutofit/>
          </a:bodyPr>
          <a:lstStyle>
            <a:lvl1pPr algn="l">
              <a:defRPr sz="6600"/>
            </a:lvl1pPr>
          </a:lstStyle>
          <a:p>
            <a:r>
              <a:rPr lang="en-GB"/>
              <a:t>Click to edit Master title style</a:t>
            </a:r>
            <a:endParaRPr lang="en-US" dirty="0"/>
          </a:p>
        </p:txBody>
      </p:sp>
      <p:sp>
        <p:nvSpPr>
          <p:cNvPr id="3" name="Subtitle 2"/>
          <p:cNvSpPr>
            <a:spLocks noGrp="1"/>
          </p:cNvSpPr>
          <p:nvPr>
            <p:ph type="subTitle" idx="1"/>
          </p:nvPr>
        </p:nvSpPr>
        <p:spPr>
          <a:xfrm>
            <a:off x="1128404" y="3564467"/>
            <a:ext cx="8637072" cy="1071095"/>
          </a:xfrm>
        </p:spPr>
        <p:txBody>
          <a:bodyPr tIns="91440" bIns="91440">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31329BA3-45DD-F045-98C4-F86B999B047D}" type="datetimeFigureOut">
              <a:rPr lang="en-US" smtClean="0"/>
              <a:t>8/2/26</a:t>
            </a:fld>
            <a:endParaRPr lang="en-US"/>
          </a:p>
        </p:txBody>
      </p:sp>
      <p:sp>
        <p:nvSpPr>
          <p:cNvPr id="5" name="Footer Placeholder 4"/>
          <p:cNvSpPr>
            <a:spLocks noGrp="1"/>
          </p:cNvSpPr>
          <p:nvPr>
            <p:ph type="ftr" sz="quarter" idx="11"/>
          </p:nvPr>
        </p:nvSpPr>
        <p:spPr>
          <a:xfrm>
            <a:off x="1127124" y="329307"/>
            <a:ext cx="5943668" cy="309201"/>
          </a:xfrm>
        </p:spPr>
        <p:txBody>
          <a:bodyPr/>
          <a:lstStyle/>
          <a:p>
            <a:endParaRPr lang="en-US"/>
          </a:p>
        </p:txBody>
      </p:sp>
      <p:sp>
        <p:nvSpPr>
          <p:cNvPr id="6" name="Slide Number Placeholder 5"/>
          <p:cNvSpPr>
            <a:spLocks noGrp="1"/>
          </p:cNvSpPr>
          <p:nvPr>
            <p:ph type="sldNum" sz="quarter" idx="12"/>
          </p:nvPr>
        </p:nvSpPr>
        <p:spPr>
          <a:xfrm>
            <a:off x="9924392" y="134930"/>
            <a:ext cx="811019" cy="503578"/>
          </a:xfrm>
        </p:spPr>
        <p:txBody>
          <a:bodyPr/>
          <a:lstStyle/>
          <a:p>
            <a:fld id="{F7F426DF-617A-C845-9AE6-1DB7307EB76F}"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8649035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sz="1200"/>
            </a:lvl1pPr>
          </a:lstStyle>
          <a:p>
            <a:fld id="{31329BA3-45DD-F045-98C4-F86B999B047D}" type="datetimeFigureOut">
              <a:rPr lang="en-US" smtClean="0"/>
              <a:t>8/2/26</a:t>
            </a:fld>
            <a:endParaRPr lang="en-US"/>
          </a:p>
        </p:txBody>
      </p:sp>
      <p:sp>
        <p:nvSpPr>
          <p:cNvPr id="5" name="Footer Placeholder 4"/>
          <p:cNvSpPr>
            <a:spLocks noGrp="1"/>
          </p:cNvSpPr>
          <p:nvPr>
            <p:ph type="ftr" sz="quarter" idx="11"/>
          </p:nvPr>
        </p:nvSpPr>
        <p:spPr/>
        <p:txBody>
          <a:bodyPr/>
          <a:lstStyle>
            <a:lvl1pPr>
              <a:defRPr sz="1200"/>
            </a:lvl1pPr>
          </a:lstStyle>
          <a:p>
            <a:endParaRPr lang="en-US"/>
          </a:p>
        </p:txBody>
      </p:sp>
      <p:sp>
        <p:nvSpPr>
          <p:cNvPr id="6" name="Slide Number Placeholder 5"/>
          <p:cNvSpPr>
            <a:spLocks noGrp="1"/>
          </p:cNvSpPr>
          <p:nvPr>
            <p:ph type="sldNum" sz="quarter" idx="12"/>
          </p:nvPr>
        </p:nvSpPr>
        <p:spPr/>
        <p:txBody>
          <a:bodyPr/>
          <a:lstStyle/>
          <a:p>
            <a:fld id="{F7F426DF-617A-C845-9AE6-1DB7307EB76F}" type="slidenum">
              <a:rPr lang="en-US" smtClean="0"/>
              <a:t>‹#›</a:t>
            </a:fld>
            <a:endParaRPr lang="en-US"/>
          </a:p>
        </p:txBody>
      </p:sp>
      <p:pic>
        <p:nvPicPr>
          <p:cNvPr id="24" name="Picture 2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377764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29167" y="1756129"/>
            <a:ext cx="8619060" cy="2050065"/>
          </a:xfrm>
        </p:spPr>
        <p:txBody>
          <a:bodyPr anchor="b">
            <a:normAutofit/>
          </a:bodyPr>
          <a:lstStyle>
            <a:lvl1pPr algn="l">
              <a:defRPr sz="3600"/>
            </a:lvl1pPr>
          </a:lstStyle>
          <a:p>
            <a:r>
              <a:rPr lang="en-GB"/>
              <a:t>Click to edit Master title style</a:t>
            </a:r>
            <a:endParaRPr lang="en-US" dirty="0"/>
          </a:p>
        </p:txBody>
      </p:sp>
      <p:sp>
        <p:nvSpPr>
          <p:cNvPr id="3" name="Text Placeholder 2"/>
          <p:cNvSpPr>
            <a:spLocks noGrp="1"/>
          </p:cNvSpPr>
          <p:nvPr>
            <p:ph type="body" idx="1"/>
          </p:nvPr>
        </p:nvSpPr>
        <p:spPr>
          <a:xfrm>
            <a:off x="1129166" y="3806195"/>
            <a:ext cx="861906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1329BA3-45DD-F045-98C4-F86B999B047D}" type="datetimeFigureOut">
              <a:rPr lang="en-US" smtClean="0"/>
              <a:t>8/2/26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426DF-617A-C845-9AE6-1DB7307EB76F}"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3011753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31052" y="958037"/>
            <a:ext cx="9605635" cy="1059305"/>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129166" y="2165621"/>
            <a:ext cx="4645152" cy="329385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095606" y="2171769"/>
            <a:ext cx="4645152" cy="328709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31329BA3-45DD-F045-98C4-F86B999B047D}" type="datetimeFigureOut">
              <a:rPr lang="en-US" smtClean="0"/>
              <a:t>8/2/26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F426DF-617A-C845-9AE6-1DB7307EB76F}"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291814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29166" y="953336"/>
            <a:ext cx="9607661" cy="1056319"/>
          </a:xfrm>
        </p:spPr>
        <p:txBody>
          <a:bodyPr/>
          <a:lstStyle/>
          <a:p>
            <a:r>
              <a:rPr lang="en-GB"/>
              <a:t>Click to edit Master title style</a:t>
            </a:r>
            <a:endParaRPr lang="en-US" dirty="0"/>
          </a:p>
        </p:txBody>
      </p:sp>
      <p:sp>
        <p:nvSpPr>
          <p:cNvPr id="3" name="Text Placeholder 2"/>
          <p:cNvSpPr>
            <a:spLocks noGrp="1"/>
          </p:cNvSpPr>
          <p:nvPr>
            <p:ph type="body" idx="1"/>
          </p:nvPr>
        </p:nvSpPr>
        <p:spPr>
          <a:xfrm>
            <a:off x="1129166" y="2169727"/>
            <a:ext cx="4645152" cy="801943"/>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29166" y="2974448"/>
            <a:ext cx="4645152" cy="24938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094337" y="2173181"/>
            <a:ext cx="4645152" cy="802237"/>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094337" y="2971669"/>
            <a:ext cx="4645152" cy="248719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31329BA3-45DD-F045-98C4-F86B999B047D}" type="datetimeFigureOut">
              <a:rPr lang="en-US" smtClean="0"/>
              <a:t>8/2/26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7F426DF-617A-C845-9AE6-1DB7307EB76F}" type="slidenum">
              <a:rPr lang="en-US" smtClean="0"/>
              <a:t>‹#›</a:t>
            </a:fld>
            <a:endParaRPr lang="en-US"/>
          </a:p>
        </p:txBody>
      </p:sp>
      <p:pic>
        <p:nvPicPr>
          <p:cNvPr id="18" name="Picture 17"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690015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31329BA3-45DD-F045-98C4-F86B999B047D}" type="datetimeFigureOut">
              <a:rPr lang="en-US" smtClean="0"/>
              <a:t>8/2/26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7F426DF-617A-C845-9AE6-1DB7307EB76F}" type="slidenum">
              <a:rPr lang="en-US" smtClean="0"/>
              <a:t>‹#›</a:t>
            </a:fld>
            <a:endParaRPr lang="en-US"/>
          </a:p>
        </p:txBody>
      </p:sp>
      <p:pic>
        <p:nvPicPr>
          <p:cNvPr id="14" name="Picture 1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568214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329BA3-45DD-F045-98C4-F86B999B047D}" type="datetimeFigureOut">
              <a:rPr lang="en-US" smtClean="0"/>
              <a:t>8/2/26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7F426DF-617A-C845-9AE6-1DB7307EB76F}" type="slidenum">
              <a:rPr lang="en-US" smtClean="0"/>
              <a:t>‹#›</a:t>
            </a:fld>
            <a:endParaRPr lang="en-US"/>
          </a:p>
        </p:txBody>
      </p:sp>
    </p:spTree>
    <p:extLst>
      <p:ext uri="{BB962C8B-B14F-4D97-AF65-F5344CB8AC3E}">
        <p14:creationId xmlns:p14="http://schemas.microsoft.com/office/powerpoint/2010/main" val="1019122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4291" y="952578"/>
            <a:ext cx="3275013" cy="2322176"/>
          </a:xfrm>
        </p:spPr>
        <p:txBody>
          <a:bodyPr anchor="b">
            <a:normAutofit/>
          </a:bodyPr>
          <a:lstStyle>
            <a:lvl1pPr algn="l">
              <a:defRPr sz="2400"/>
            </a:lvl1pPr>
          </a:lstStyle>
          <a:p>
            <a:r>
              <a:rPr lang="en-GB"/>
              <a:t>Click to edit Master title style</a:t>
            </a:r>
            <a:endParaRPr lang="en-US" dirty="0"/>
          </a:p>
        </p:txBody>
      </p:sp>
      <p:sp>
        <p:nvSpPr>
          <p:cNvPr id="3" name="Content Placeholder 2"/>
          <p:cNvSpPr>
            <a:spLocks noGrp="1"/>
          </p:cNvSpPr>
          <p:nvPr>
            <p:ph idx="1"/>
          </p:nvPr>
        </p:nvSpPr>
        <p:spPr>
          <a:xfrm>
            <a:off x="4723334" y="952578"/>
            <a:ext cx="6012470" cy="4505221"/>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24291" y="3274754"/>
            <a:ext cx="3275013" cy="217891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1329BA3-45DD-F045-98C4-F86B999B047D}" type="datetimeFigureOut">
              <a:rPr lang="en-US" smtClean="0"/>
              <a:t>8/2/26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F426DF-617A-C845-9AE6-1DB7307EB76F}"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4246186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129124" y="1129513"/>
            <a:ext cx="5854872" cy="1924208"/>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128247" y="3053721"/>
            <a:ext cx="5846486" cy="2096013"/>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1125300" y="5469856"/>
            <a:ext cx="5849605" cy="320123"/>
          </a:xfrm>
        </p:spPr>
        <p:txBody>
          <a:bodyPr/>
          <a:lstStyle>
            <a:lvl1pPr algn="l">
              <a:defRPr/>
            </a:lvl1pPr>
          </a:lstStyle>
          <a:p>
            <a:fld id="{31329BA3-45DD-F045-98C4-F86B999B047D}" type="datetimeFigureOut">
              <a:rPr lang="en-US" smtClean="0"/>
              <a:t>8/2/26</a:t>
            </a:fld>
            <a:endParaRPr lang="en-US"/>
          </a:p>
        </p:txBody>
      </p:sp>
      <p:sp>
        <p:nvSpPr>
          <p:cNvPr id="6" name="Footer Placeholder 5"/>
          <p:cNvSpPr>
            <a:spLocks noGrp="1"/>
          </p:cNvSpPr>
          <p:nvPr>
            <p:ph type="ftr" sz="quarter" idx="11"/>
          </p:nvPr>
        </p:nvSpPr>
        <p:spPr>
          <a:xfrm>
            <a:off x="1125300" y="318640"/>
            <a:ext cx="4877818" cy="320931"/>
          </a:xfrm>
        </p:spPr>
        <p:txBody>
          <a:bodyPr/>
          <a:lstStyle/>
          <a:p>
            <a:endParaRPr lang="en-US" dirty="0"/>
          </a:p>
        </p:txBody>
      </p:sp>
      <p:sp>
        <p:nvSpPr>
          <p:cNvPr id="7" name="Slide Number Placeholder 6"/>
          <p:cNvSpPr>
            <a:spLocks noGrp="1"/>
          </p:cNvSpPr>
          <p:nvPr>
            <p:ph type="sldNum" sz="quarter" idx="12"/>
          </p:nvPr>
        </p:nvSpPr>
        <p:spPr>
          <a:xfrm>
            <a:off x="6176794" y="137408"/>
            <a:ext cx="811019" cy="503578"/>
          </a:xfrm>
        </p:spPr>
        <p:txBody>
          <a:bodyPr/>
          <a:lstStyle/>
          <a:p>
            <a:fld id="{F7F426DF-617A-C845-9AE6-1DB7307EB76F}" type="slidenum">
              <a:rPr lang="en-US" smtClean="0"/>
              <a:t>‹#›</a:t>
            </a:fld>
            <a:endParaRPr lang="en-US"/>
          </a:p>
        </p:txBody>
      </p:sp>
      <p:pic>
        <p:nvPicPr>
          <p:cNvPr id="22" name="Picture 21"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t="474" r="48549" b="36564"/>
          <a:stretch/>
        </p:blipFill>
        <p:spPr>
          <a:xfrm>
            <a:off x="1125460" y="643464"/>
            <a:ext cx="5879592" cy="155448"/>
          </a:xfrm>
          <a:prstGeom prst="rect">
            <a:avLst/>
          </a:prstGeom>
          <a:noFill/>
          <a:ln>
            <a:noFill/>
          </a:ln>
        </p:spPr>
      </p:pic>
    </p:spTree>
    <p:extLst>
      <p:ext uri="{BB962C8B-B14F-4D97-AF65-F5344CB8AC3E}">
        <p14:creationId xmlns:p14="http://schemas.microsoft.com/office/powerpoint/2010/main" val="2689289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1329BA3-45DD-F045-98C4-F86B999B047D}" type="datetimeFigureOut">
              <a:rPr lang="en-US" smtClean="0"/>
              <a:t>8/2/26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426DF-617A-C845-9AE6-1DB7307EB76F}" type="slidenum">
              <a:rPr lang="en-US" smtClean="0"/>
              <a:t>‹#›</a:t>
            </a:fld>
            <a:endParaRPr lang="en-US"/>
          </a:p>
        </p:txBody>
      </p:sp>
      <p:pic>
        <p:nvPicPr>
          <p:cNvPr id="15" name="Picture 14"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98661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4709" y="798973"/>
            <a:ext cx="1615742" cy="4659889"/>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1130270" y="798973"/>
            <a:ext cx="7828830" cy="465988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1329BA3-45DD-F045-98C4-F86B999B047D}" type="datetimeFigureOut">
              <a:rPr lang="en-US" smtClean="0"/>
              <a:t>8/2/26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426DF-617A-C845-9AE6-1DB7307EB76F}" type="slidenum">
              <a:rPr lang="en-US" smtClean="0"/>
              <a:t>‹#›</a:t>
            </a:fld>
            <a:endParaRPr lang="en-US"/>
          </a:p>
        </p:txBody>
      </p:sp>
      <p:pic>
        <p:nvPicPr>
          <p:cNvPr id="17" name="Picture 16"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59215" b="36435"/>
          <a:stretch/>
        </p:blipFill>
        <p:spPr>
          <a:xfrm rot="5400000">
            <a:off x="8642279" y="3046916"/>
            <a:ext cx="4663440" cy="155448"/>
          </a:xfrm>
          <a:prstGeom prst="rect">
            <a:avLst/>
          </a:prstGeom>
          <a:noFill/>
          <a:ln>
            <a:noFill/>
          </a:ln>
        </p:spPr>
      </p:pic>
    </p:spTree>
    <p:extLst>
      <p:ext uri="{BB962C8B-B14F-4D97-AF65-F5344CB8AC3E}">
        <p14:creationId xmlns:p14="http://schemas.microsoft.com/office/powerpoint/2010/main" val="2158737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13" name="Rectangle 12"/>
          <p:cNvSpPr/>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130270" y="953324"/>
            <a:ext cx="9603275" cy="1049235"/>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130270" y="2171769"/>
            <a:ext cx="9603275" cy="329457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32830" y="330370"/>
            <a:ext cx="2515396"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31329BA3-45DD-F045-98C4-F86B999B047D}" type="datetimeFigureOut">
              <a:rPr lang="en-US" smtClean="0"/>
              <a:t>8/2/26</a:t>
            </a:fld>
            <a:endParaRPr lang="en-US"/>
          </a:p>
        </p:txBody>
      </p:sp>
      <p:sp>
        <p:nvSpPr>
          <p:cNvPr id="5" name="Footer Placeholder 4"/>
          <p:cNvSpPr>
            <a:spLocks noGrp="1"/>
          </p:cNvSpPr>
          <p:nvPr>
            <p:ph type="ftr" sz="quarter" idx="3"/>
          </p:nvPr>
        </p:nvSpPr>
        <p:spPr>
          <a:xfrm>
            <a:off x="1130270"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918076" y="137408"/>
            <a:ext cx="811019" cy="503578"/>
          </a:xfrm>
          <a:prstGeom prst="rect">
            <a:avLst/>
          </a:prstGeom>
        </p:spPr>
        <p:txBody>
          <a:bodyPr vert="horz" lIns="91440" tIns="45720" rIns="91440" bIns="45720" rtlCol="0" anchor="t"/>
          <a:lstStyle>
            <a:lvl1pPr algn="r">
              <a:defRPr sz="2800">
                <a:solidFill>
                  <a:schemeClr val="accent1"/>
                </a:solidFill>
              </a:defRPr>
            </a:lvl1pPr>
          </a:lstStyle>
          <a:p>
            <a:fld id="{F7F426DF-617A-C845-9AE6-1DB7307EB76F}" type="slidenum">
              <a:rPr lang="en-US" smtClean="0"/>
              <a:t>‹#›</a:t>
            </a:fld>
            <a:endParaRPr lang="en-US"/>
          </a:p>
        </p:txBody>
      </p:sp>
    </p:spTree>
    <p:extLst>
      <p:ext uri="{BB962C8B-B14F-4D97-AF65-F5344CB8AC3E}">
        <p14:creationId xmlns:p14="http://schemas.microsoft.com/office/powerpoint/2010/main" val="3000420688"/>
      </p:ext>
    </p:extLst>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7B8CE-5128-FB23-6AA3-963B2099C56C}"/>
              </a:ext>
            </a:extLst>
          </p:cNvPr>
          <p:cNvSpPr>
            <a:spLocks noGrp="1"/>
          </p:cNvSpPr>
          <p:nvPr>
            <p:ph type="ctrTitle"/>
          </p:nvPr>
        </p:nvSpPr>
        <p:spPr/>
        <p:txBody>
          <a:bodyPr>
            <a:normAutofit/>
          </a:bodyPr>
          <a:lstStyle/>
          <a:p>
            <a:r>
              <a:rPr lang="en-GB" b="1" i="0" dirty="0">
                <a:solidFill>
                  <a:srgbClr val="374151"/>
                </a:solidFill>
                <a:effectLst/>
                <a:latin typeface="Söhne"/>
              </a:rPr>
              <a:t>Security Framework for </a:t>
            </a:r>
            <a:r>
              <a:rPr lang="en-GB" b="1" i="0" dirty="0" err="1">
                <a:solidFill>
                  <a:srgbClr val="374151"/>
                </a:solidFill>
                <a:effectLst/>
                <a:latin typeface="Söhne"/>
              </a:rPr>
              <a:t>SwiftTech</a:t>
            </a:r>
            <a:r>
              <a:rPr lang="en-GB" b="1" i="0" dirty="0">
                <a:solidFill>
                  <a:srgbClr val="374151"/>
                </a:solidFill>
                <a:effectLst/>
                <a:latin typeface="Söhne"/>
              </a:rPr>
              <a:t> Solutions Ltd</a:t>
            </a:r>
            <a:endParaRPr lang="en-US" b="1" dirty="0"/>
          </a:p>
        </p:txBody>
      </p:sp>
      <p:sp>
        <p:nvSpPr>
          <p:cNvPr id="3" name="Subtitle 2">
            <a:extLst>
              <a:ext uri="{FF2B5EF4-FFF2-40B4-BE49-F238E27FC236}">
                <a16:creationId xmlns:a16="http://schemas.microsoft.com/office/drawing/2014/main" id="{3359C420-C2A6-DD91-E525-3FA6A69D3817}"/>
              </a:ext>
            </a:extLst>
          </p:cNvPr>
          <p:cNvSpPr>
            <a:spLocks noGrp="1"/>
          </p:cNvSpPr>
          <p:nvPr>
            <p:ph type="subTitle" idx="1"/>
          </p:nvPr>
        </p:nvSpPr>
        <p:spPr/>
        <p:txBody>
          <a:bodyPr>
            <a:normAutofit/>
          </a:bodyPr>
          <a:lstStyle/>
          <a:p>
            <a:r>
              <a:rPr lang="en-GB" sz="2400" b="0" i="0" dirty="0">
                <a:solidFill>
                  <a:srgbClr val="374151"/>
                </a:solidFill>
                <a:effectLst/>
                <a:latin typeface="Söhne"/>
              </a:rPr>
              <a:t>Enhancing Cloud Security in Modern Work Environments</a:t>
            </a:r>
            <a:endParaRPr lang="en-US" sz="2400" dirty="0"/>
          </a:p>
        </p:txBody>
      </p:sp>
      <p:sp>
        <p:nvSpPr>
          <p:cNvPr id="4" name="TextBox 3">
            <a:extLst>
              <a:ext uri="{FF2B5EF4-FFF2-40B4-BE49-F238E27FC236}">
                <a16:creationId xmlns:a16="http://schemas.microsoft.com/office/drawing/2014/main" id="{35A309FF-597F-3E08-BB59-EAA93FBB7CBF}"/>
              </a:ext>
            </a:extLst>
          </p:cNvPr>
          <p:cNvSpPr txBox="1"/>
          <p:nvPr/>
        </p:nvSpPr>
        <p:spPr>
          <a:xfrm>
            <a:off x="7819697" y="5717628"/>
            <a:ext cx="4372303" cy="369332"/>
          </a:xfrm>
          <a:prstGeom prst="rect">
            <a:avLst/>
          </a:prstGeom>
          <a:noFill/>
        </p:spPr>
        <p:txBody>
          <a:bodyPr wrap="square" rtlCol="0">
            <a:spAutoFit/>
          </a:bodyPr>
          <a:lstStyle/>
          <a:p>
            <a:r>
              <a:rPr lang="en-US" dirty="0" err="1"/>
              <a:t>Oluwatobi</a:t>
            </a:r>
            <a:endParaRPr lang="en-US" dirty="0"/>
          </a:p>
        </p:txBody>
      </p:sp>
    </p:spTree>
    <p:extLst>
      <p:ext uri="{BB962C8B-B14F-4D97-AF65-F5344CB8AC3E}">
        <p14:creationId xmlns:p14="http://schemas.microsoft.com/office/powerpoint/2010/main" val="1564054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6043D-8181-7322-B101-0094C3C002C1}"/>
              </a:ext>
            </a:extLst>
          </p:cNvPr>
          <p:cNvSpPr>
            <a:spLocks noGrp="1"/>
          </p:cNvSpPr>
          <p:nvPr>
            <p:ph type="title"/>
          </p:nvPr>
        </p:nvSpPr>
        <p:spPr/>
        <p:txBody>
          <a:bodyPr/>
          <a:lstStyle/>
          <a:p>
            <a:r>
              <a:rPr lang="en-US" b="1" dirty="0"/>
              <a:t>Contents</a:t>
            </a:r>
          </a:p>
        </p:txBody>
      </p:sp>
      <p:sp>
        <p:nvSpPr>
          <p:cNvPr id="3" name="Content Placeholder 2">
            <a:extLst>
              <a:ext uri="{FF2B5EF4-FFF2-40B4-BE49-F238E27FC236}">
                <a16:creationId xmlns:a16="http://schemas.microsoft.com/office/drawing/2014/main" id="{BA1AF8FC-C649-F1BB-336F-C947E4727F08}"/>
              </a:ext>
            </a:extLst>
          </p:cNvPr>
          <p:cNvSpPr>
            <a:spLocks noGrp="1"/>
          </p:cNvSpPr>
          <p:nvPr>
            <p:ph idx="1"/>
          </p:nvPr>
        </p:nvSpPr>
        <p:spPr/>
        <p:txBody>
          <a:bodyPr>
            <a:normAutofit fontScale="62500" lnSpcReduction="20000"/>
          </a:bodyPr>
          <a:lstStyle/>
          <a:p>
            <a:pPr algn="l">
              <a:buFont typeface="Arial" panose="020B0604020202020204" pitchFamily="34" charset="0"/>
              <a:buChar char="•"/>
            </a:pPr>
            <a:r>
              <a:rPr lang="en-GB" b="0" i="0" dirty="0">
                <a:solidFill>
                  <a:srgbClr val="374151"/>
                </a:solidFill>
                <a:effectLst/>
                <a:latin typeface="Söhne"/>
              </a:rPr>
              <a:t>Introduction</a:t>
            </a:r>
          </a:p>
          <a:p>
            <a:pPr algn="l">
              <a:buFont typeface="Arial" panose="020B0604020202020204" pitchFamily="34" charset="0"/>
              <a:buChar char="•"/>
            </a:pPr>
            <a:r>
              <a:rPr lang="en-GB" b="0" i="0" dirty="0">
                <a:solidFill>
                  <a:srgbClr val="374151"/>
                </a:solidFill>
                <a:effectLst/>
                <a:latin typeface="Söhne"/>
              </a:rPr>
              <a:t>Scenario Overview</a:t>
            </a:r>
          </a:p>
          <a:p>
            <a:pPr algn="l">
              <a:buFont typeface="Arial" panose="020B0604020202020204" pitchFamily="34" charset="0"/>
              <a:buChar char="•"/>
            </a:pPr>
            <a:r>
              <a:rPr lang="en-GB" b="0" i="0" dirty="0">
                <a:solidFill>
                  <a:srgbClr val="374151"/>
                </a:solidFill>
                <a:effectLst/>
                <a:latin typeface="Söhne"/>
              </a:rPr>
              <a:t>Framework Scope</a:t>
            </a:r>
          </a:p>
          <a:p>
            <a:pPr algn="l">
              <a:buFont typeface="Arial" panose="020B0604020202020204" pitchFamily="34" charset="0"/>
              <a:buChar char="•"/>
            </a:pPr>
            <a:r>
              <a:rPr lang="en-GB" b="0" i="0" dirty="0">
                <a:solidFill>
                  <a:srgbClr val="374151"/>
                </a:solidFill>
                <a:effectLst/>
                <a:latin typeface="Söhne"/>
              </a:rPr>
              <a:t>Risk Assessment and Threat Identification</a:t>
            </a:r>
          </a:p>
          <a:p>
            <a:pPr algn="l">
              <a:buFont typeface="Arial" panose="020B0604020202020204" pitchFamily="34" charset="0"/>
              <a:buChar char="•"/>
            </a:pPr>
            <a:r>
              <a:rPr lang="en-GB" b="0" i="0" dirty="0">
                <a:solidFill>
                  <a:srgbClr val="374151"/>
                </a:solidFill>
                <a:effectLst/>
                <a:latin typeface="Söhne"/>
              </a:rPr>
              <a:t>Security Policy Objectives</a:t>
            </a:r>
          </a:p>
          <a:p>
            <a:pPr algn="l">
              <a:buFont typeface="Arial" panose="020B0604020202020204" pitchFamily="34" charset="0"/>
              <a:buChar char="•"/>
            </a:pPr>
            <a:r>
              <a:rPr lang="en-GB" b="0" i="0" dirty="0">
                <a:solidFill>
                  <a:srgbClr val="374151"/>
                </a:solidFill>
                <a:effectLst/>
                <a:latin typeface="Söhne"/>
              </a:rPr>
              <a:t>Mitigation Strategies</a:t>
            </a:r>
          </a:p>
          <a:p>
            <a:pPr algn="l">
              <a:buFont typeface="Arial" panose="020B0604020202020204" pitchFamily="34" charset="0"/>
              <a:buChar char="•"/>
            </a:pPr>
            <a:r>
              <a:rPr lang="en-GB" b="0" i="0" dirty="0">
                <a:solidFill>
                  <a:srgbClr val="374151"/>
                </a:solidFill>
                <a:effectLst/>
                <a:latin typeface="Söhne"/>
              </a:rPr>
              <a:t>Monitoring and Maintenance</a:t>
            </a:r>
          </a:p>
          <a:p>
            <a:pPr algn="l">
              <a:buFont typeface="Arial" panose="020B0604020202020204" pitchFamily="34" charset="0"/>
              <a:buChar char="•"/>
            </a:pPr>
            <a:r>
              <a:rPr lang="en-GB" b="0" i="0" dirty="0">
                <a:solidFill>
                  <a:srgbClr val="374151"/>
                </a:solidFill>
                <a:effectLst/>
                <a:latin typeface="Söhne"/>
              </a:rPr>
              <a:t>Business Continuity</a:t>
            </a:r>
          </a:p>
          <a:p>
            <a:pPr algn="l">
              <a:buFont typeface="Arial" panose="020B0604020202020204" pitchFamily="34" charset="0"/>
              <a:buChar char="•"/>
            </a:pPr>
            <a:r>
              <a:rPr lang="en-GB" b="0" i="0" dirty="0">
                <a:solidFill>
                  <a:srgbClr val="374151"/>
                </a:solidFill>
                <a:effectLst/>
                <a:latin typeface="Söhne"/>
              </a:rPr>
              <a:t>Access Control Policies</a:t>
            </a:r>
          </a:p>
          <a:p>
            <a:pPr algn="l">
              <a:buFont typeface="Arial" panose="020B0604020202020204" pitchFamily="34" charset="0"/>
              <a:buChar char="•"/>
            </a:pPr>
            <a:r>
              <a:rPr lang="en-GB" b="0" i="0" dirty="0">
                <a:solidFill>
                  <a:srgbClr val="374151"/>
                </a:solidFill>
                <a:effectLst/>
                <a:latin typeface="Söhne"/>
              </a:rPr>
              <a:t>Conclusion</a:t>
            </a:r>
          </a:p>
          <a:p>
            <a:endParaRPr lang="en-US" dirty="0"/>
          </a:p>
        </p:txBody>
      </p:sp>
    </p:spTree>
    <p:extLst>
      <p:ext uri="{BB962C8B-B14F-4D97-AF65-F5344CB8AC3E}">
        <p14:creationId xmlns:p14="http://schemas.microsoft.com/office/powerpoint/2010/main" val="1399164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06E88-C315-D6FE-98AA-A9E408C76498}"/>
              </a:ext>
            </a:extLst>
          </p:cNvPr>
          <p:cNvSpPr>
            <a:spLocks noGrp="1"/>
          </p:cNvSpPr>
          <p:nvPr>
            <p:ph type="title"/>
          </p:nvPr>
        </p:nvSpPr>
        <p:spPr/>
        <p:txBody>
          <a:bodyPr/>
          <a:lstStyle/>
          <a:p>
            <a:r>
              <a:rPr lang="en-GB" b="1" i="0" dirty="0">
                <a:effectLst/>
                <a:latin typeface="Söhne"/>
              </a:rPr>
              <a:t>Introduction</a:t>
            </a:r>
            <a:endParaRPr lang="en-US" dirty="0"/>
          </a:p>
        </p:txBody>
      </p:sp>
      <p:sp>
        <p:nvSpPr>
          <p:cNvPr id="3" name="Content Placeholder 2">
            <a:extLst>
              <a:ext uri="{FF2B5EF4-FFF2-40B4-BE49-F238E27FC236}">
                <a16:creationId xmlns:a16="http://schemas.microsoft.com/office/drawing/2014/main" id="{E3705A66-710B-0318-77A8-9A92D161F457}"/>
              </a:ext>
            </a:extLst>
          </p:cNvPr>
          <p:cNvSpPr>
            <a:spLocks noGrp="1"/>
          </p:cNvSpPr>
          <p:nvPr>
            <p:ph idx="1"/>
          </p:nvPr>
        </p:nvSpPr>
        <p:spPr/>
        <p:txBody>
          <a:bodyPr>
            <a:normAutofit/>
          </a:bodyPr>
          <a:lstStyle/>
          <a:p>
            <a:r>
              <a:rPr lang="en-GB" sz="2400" b="0" i="0" dirty="0">
                <a:solidFill>
                  <a:srgbClr val="374151"/>
                </a:solidFill>
                <a:effectLst/>
                <a:latin typeface="Söhne"/>
              </a:rPr>
              <a:t>Today, we'll explore the topic of Cloud </a:t>
            </a:r>
            <a:r>
              <a:rPr lang="en-GB" sz="2400" dirty="0">
                <a:solidFill>
                  <a:srgbClr val="374151"/>
                </a:solidFill>
                <a:latin typeface="Söhne"/>
              </a:rPr>
              <a:t>S</a:t>
            </a:r>
            <a:r>
              <a:rPr lang="en-GB" sz="2400" b="0" i="0" dirty="0">
                <a:solidFill>
                  <a:srgbClr val="374151"/>
                </a:solidFill>
                <a:effectLst/>
                <a:latin typeface="Söhne"/>
              </a:rPr>
              <a:t>ecurity in modern workplaces. In this era of digital transformation, securing cloud environments is paramount. I’ll delve into the importance of safeguarding data, infrastructure, and services in the cloud.</a:t>
            </a:r>
            <a:endParaRPr lang="en-US" sz="2400" dirty="0"/>
          </a:p>
        </p:txBody>
      </p:sp>
    </p:spTree>
    <p:extLst>
      <p:ext uri="{BB962C8B-B14F-4D97-AF65-F5344CB8AC3E}">
        <p14:creationId xmlns:p14="http://schemas.microsoft.com/office/powerpoint/2010/main" val="934632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81027-E5A8-03BA-7329-33F543D5D2A9}"/>
              </a:ext>
            </a:extLst>
          </p:cNvPr>
          <p:cNvSpPr>
            <a:spLocks noGrp="1"/>
          </p:cNvSpPr>
          <p:nvPr>
            <p:ph type="title"/>
          </p:nvPr>
        </p:nvSpPr>
        <p:spPr/>
        <p:txBody>
          <a:bodyPr/>
          <a:lstStyle/>
          <a:p>
            <a:r>
              <a:rPr lang="en-GB" b="1" i="0" dirty="0">
                <a:effectLst/>
                <a:latin typeface="Söhne"/>
              </a:rPr>
              <a:t>Scenario Overview</a:t>
            </a:r>
            <a:endParaRPr lang="en-US" dirty="0"/>
          </a:p>
        </p:txBody>
      </p:sp>
      <p:sp>
        <p:nvSpPr>
          <p:cNvPr id="3" name="Content Placeholder 2">
            <a:extLst>
              <a:ext uri="{FF2B5EF4-FFF2-40B4-BE49-F238E27FC236}">
                <a16:creationId xmlns:a16="http://schemas.microsoft.com/office/drawing/2014/main" id="{2F4B8CA7-0D6E-84DD-5400-83D542F2EB5D}"/>
              </a:ext>
            </a:extLst>
          </p:cNvPr>
          <p:cNvSpPr>
            <a:spLocks noGrp="1"/>
          </p:cNvSpPr>
          <p:nvPr>
            <p:ph idx="1"/>
          </p:nvPr>
        </p:nvSpPr>
        <p:spPr/>
        <p:txBody>
          <a:bodyPr>
            <a:normAutofit/>
          </a:bodyPr>
          <a:lstStyle/>
          <a:p>
            <a:r>
              <a:rPr lang="en-GB" sz="2400" b="0" i="0" dirty="0" err="1">
                <a:solidFill>
                  <a:srgbClr val="374151"/>
                </a:solidFill>
                <a:effectLst/>
                <a:latin typeface="Söhne"/>
              </a:rPr>
              <a:t>SwiftTech</a:t>
            </a:r>
            <a:r>
              <a:rPr lang="en-GB" sz="2400" b="0" i="0" dirty="0">
                <a:solidFill>
                  <a:srgbClr val="374151"/>
                </a:solidFill>
                <a:effectLst/>
                <a:latin typeface="Söhne"/>
              </a:rPr>
              <a:t> Solutions Ltd., a UK-based tech firm, relies on a cutting-edge cloud-based infrastructure. Their workforce, both remote and on-site, benefits from this setup. Ensuring the security of cloud resources is vital, as it underpins their operations, data, and services.</a:t>
            </a:r>
            <a:endParaRPr lang="en-US" sz="2400" dirty="0"/>
          </a:p>
        </p:txBody>
      </p:sp>
    </p:spTree>
    <p:extLst>
      <p:ext uri="{BB962C8B-B14F-4D97-AF65-F5344CB8AC3E}">
        <p14:creationId xmlns:p14="http://schemas.microsoft.com/office/powerpoint/2010/main" val="2961292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BF0E5-E3A0-5236-91AF-BA1DF1A0F7E9}"/>
              </a:ext>
            </a:extLst>
          </p:cNvPr>
          <p:cNvSpPr>
            <a:spLocks noGrp="1"/>
          </p:cNvSpPr>
          <p:nvPr>
            <p:ph type="title"/>
          </p:nvPr>
        </p:nvSpPr>
        <p:spPr/>
        <p:txBody>
          <a:bodyPr/>
          <a:lstStyle/>
          <a:p>
            <a:r>
              <a:rPr lang="en-GB" b="1" i="0" dirty="0">
                <a:effectLst/>
                <a:latin typeface="Söhne"/>
              </a:rPr>
              <a:t>Framework Scope</a:t>
            </a:r>
            <a:endParaRPr lang="en-US" dirty="0"/>
          </a:p>
        </p:txBody>
      </p:sp>
      <p:sp>
        <p:nvSpPr>
          <p:cNvPr id="3" name="Content Placeholder 2">
            <a:extLst>
              <a:ext uri="{FF2B5EF4-FFF2-40B4-BE49-F238E27FC236}">
                <a16:creationId xmlns:a16="http://schemas.microsoft.com/office/drawing/2014/main" id="{6CA2B829-632F-457F-BBDF-333FF30980CC}"/>
              </a:ext>
            </a:extLst>
          </p:cNvPr>
          <p:cNvSpPr>
            <a:spLocks noGrp="1"/>
          </p:cNvSpPr>
          <p:nvPr>
            <p:ph idx="1"/>
          </p:nvPr>
        </p:nvSpPr>
        <p:spPr>
          <a:xfrm>
            <a:off x="1130271" y="2171769"/>
            <a:ext cx="4965729" cy="3294576"/>
          </a:xfrm>
        </p:spPr>
        <p:txBody>
          <a:bodyPr>
            <a:normAutofit fontScale="85000" lnSpcReduction="10000"/>
          </a:bodyPr>
          <a:lstStyle/>
          <a:p>
            <a:r>
              <a:rPr lang="en-GB" sz="2400" dirty="0">
                <a:solidFill>
                  <a:srgbClr val="374151"/>
                </a:solidFill>
                <a:latin typeface="Söhne"/>
              </a:rPr>
              <a:t>The</a:t>
            </a:r>
            <a:r>
              <a:rPr lang="en-GB" sz="2400" b="0" i="0" dirty="0">
                <a:solidFill>
                  <a:srgbClr val="374151"/>
                </a:solidFill>
                <a:effectLst/>
                <a:latin typeface="Söhne"/>
              </a:rPr>
              <a:t> security framework encompasses a wide array of cloud assets, ensuring their protection and resilience. It covers assets such as DynamoDB, </a:t>
            </a:r>
            <a:r>
              <a:rPr lang="en-GB" sz="2400" b="0" i="0" dirty="0" err="1">
                <a:solidFill>
                  <a:srgbClr val="374151"/>
                </a:solidFill>
                <a:effectLst/>
                <a:latin typeface="Söhne"/>
              </a:rPr>
              <a:t>OFBiz</a:t>
            </a:r>
            <a:r>
              <a:rPr lang="en-GB" sz="2400" b="0" i="0" dirty="0">
                <a:solidFill>
                  <a:srgbClr val="374151"/>
                </a:solidFill>
                <a:effectLst/>
                <a:latin typeface="Söhne"/>
              </a:rPr>
              <a:t>, VPC, ADDC on EC2, and OpenVPN Access to VDI, leaving no stone unturned in securing critical components of the cloud infrastructure. This comprehensive approach is important to safeguarding our operations and data.</a:t>
            </a:r>
            <a:endParaRPr lang="en-US" sz="2400" dirty="0"/>
          </a:p>
        </p:txBody>
      </p:sp>
      <p:pic>
        <p:nvPicPr>
          <p:cNvPr id="5" name="Picture 4">
            <a:extLst>
              <a:ext uri="{FF2B5EF4-FFF2-40B4-BE49-F238E27FC236}">
                <a16:creationId xmlns:a16="http://schemas.microsoft.com/office/drawing/2014/main" id="{FA1A8725-670C-1E58-588A-3A3BF3E86316}"/>
              </a:ext>
            </a:extLst>
          </p:cNvPr>
          <p:cNvPicPr>
            <a:picLocks noChangeAspect="1"/>
          </p:cNvPicPr>
          <p:nvPr/>
        </p:nvPicPr>
        <p:blipFill>
          <a:blip r:embed="rId2"/>
          <a:stretch>
            <a:fillRect/>
          </a:stretch>
        </p:blipFill>
        <p:spPr>
          <a:xfrm>
            <a:off x="6347620" y="1681654"/>
            <a:ext cx="4714109" cy="3716669"/>
          </a:xfrm>
          <a:prstGeom prst="rect">
            <a:avLst/>
          </a:prstGeom>
        </p:spPr>
      </p:pic>
    </p:spTree>
    <p:extLst>
      <p:ext uri="{BB962C8B-B14F-4D97-AF65-F5344CB8AC3E}">
        <p14:creationId xmlns:p14="http://schemas.microsoft.com/office/powerpoint/2010/main" val="523706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8B3C4-F9D7-3EB4-B60C-8EE4F605BD76}"/>
              </a:ext>
            </a:extLst>
          </p:cNvPr>
          <p:cNvSpPr>
            <a:spLocks noGrp="1"/>
          </p:cNvSpPr>
          <p:nvPr>
            <p:ph type="title"/>
          </p:nvPr>
        </p:nvSpPr>
        <p:spPr/>
        <p:txBody>
          <a:bodyPr/>
          <a:lstStyle/>
          <a:p>
            <a:r>
              <a:rPr lang="en-GB" b="1" i="0" dirty="0">
                <a:effectLst/>
                <a:latin typeface="Söhne"/>
              </a:rPr>
              <a:t>Risk Assessment and Threat Identification</a:t>
            </a:r>
            <a:endParaRPr lang="en-US" dirty="0"/>
          </a:p>
        </p:txBody>
      </p:sp>
      <p:sp>
        <p:nvSpPr>
          <p:cNvPr id="3" name="Content Placeholder 2">
            <a:extLst>
              <a:ext uri="{FF2B5EF4-FFF2-40B4-BE49-F238E27FC236}">
                <a16:creationId xmlns:a16="http://schemas.microsoft.com/office/drawing/2014/main" id="{2F12D3EF-862C-DC96-ADCC-44239ACF8ECB}"/>
              </a:ext>
            </a:extLst>
          </p:cNvPr>
          <p:cNvSpPr>
            <a:spLocks noGrp="1"/>
          </p:cNvSpPr>
          <p:nvPr>
            <p:ph idx="1"/>
          </p:nvPr>
        </p:nvSpPr>
        <p:spPr>
          <a:xfrm>
            <a:off x="1130271" y="2171769"/>
            <a:ext cx="4114392" cy="3294576"/>
          </a:xfrm>
        </p:spPr>
        <p:txBody>
          <a:bodyPr/>
          <a:lstStyle/>
          <a:p>
            <a:r>
              <a:rPr lang="en-GB" b="0" i="0" dirty="0">
                <a:solidFill>
                  <a:srgbClr val="374151"/>
                </a:solidFill>
                <a:effectLst/>
                <a:latin typeface="Söhne"/>
              </a:rPr>
              <a:t>Risk assessment is paramount in cloud security. We've identified specific risks for each asset in our infrastructure. This meticulous assessment is crucial to mitigating threats and ensuring the resilience of our cloud environment.</a:t>
            </a:r>
            <a:endParaRPr lang="en-US" dirty="0"/>
          </a:p>
        </p:txBody>
      </p:sp>
      <p:pic>
        <p:nvPicPr>
          <p:cNvPr id="5" name="Picture 4">
            <a:extLst>
              <a:ext uri="{FF2B5EF4-FFF2-40B4-BE49-F238E27FC236}">
                <a16:creationId xmlns:a16="http://schemas.microsoft.com/office/drawing/2014/main" id="{3C54933C-C742-3F90-0847-64999B6F71E4}"/>
              </a:ext>
            </a:extLst>
          </p:cNvPr>
          <p:cNvPicPr>
            <a:picLocks noChangeAspect="1"/>
          </p:cNvPicPr>
          <p:nvPr/>
        </p:nvPicPr>
        <p:blipFill>
          <a:blip r:embed="rId2"/>
          <a:stretch>
            <a:fillRect/>
          </a:stretch>
        </p:blipFill>
        <p:spPr>
          <a:xfrm>
            <a:off x="6116321" y="1387366"/>
            <a:ext cx="4945408" cy="4403834"/>
          </a:xfrm>
          <a:prstGeom prst="rect">
            <a:avLst/>
          </a:prstGeom>
        </p:spPr>
      </p:pic>
    </p:spTree>
    <p:extLst>
      <p:ext uri="{BB962C8B-B14F-4D97-AF65-F5344CB8AC3E}">
        <p14:creationId xmlns:p14="http://schemas.microsoft.com/office/powerpoint/2010/main" val="3115392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8D804-E7E6-96A3-FB50-94805C546A44}"/>
              </a:ext>
            </a:extLst>
          </p:cNvPr>
          <p:cNvSpPr>
            <a:spLocks noGrp="1"/>
          </p:cNvSpPr>
          <p:nvPr>
            <p:ph type="title"/>
          </p:nvPr>
        </p:nvSpPr>
        <p:spPr/>
        <p:txBody>
          <a:bodyPr/>
          <a:lstStyle/>
          <a:p>
            <a:r>
              <a:rPr lang="en-GB" b="1" i="0" dirty="0">
                <a:effectLst/>
                <a:latin typeface="Söhne"/>
              </a:rPr>
              <a:t>Security Policy Objectives</a:t>
            </a:r>
            <a:endParaRPr lang="en-US" dirty="0"/>
          </a:p>
        </p:txBody>
      </p:sp>
      <p:sp>
        <p:nvSpPr>
          <p:cNvPr id="3" name="Content Placeholder 2">
            <a:extLst>
              <a:ext uri="{FF2B5EF4-FFF2-40B4-BE49-F238E27FC236}">
                <a16:creationId xmlns:a16="http://schemas.microsoft.com/office/drawing/2014/main" id="{C359256D-E53C-C0E2-EB09-4ECEA15C52ED}"/>
              </a:ext>
            </a:extLst>
          </p:cNvPr>
          <p:cNvSpPr>
            <a:spLocks noGrp="1"/>
          </p:cNvSpPr>
          <p:nvPr>
            <p:ph idx="1"/>
          </p:nvPr>
        </p:nvSpPr>
        <p:spPr/>
        <p:txBody>
          <a:bodyPr>
            <a:normAutofit/>
          </a:bodyPr>
          <a:lstStyle/>
          <a:p>
            <a:r>
              <a:rPr lang="en-GB" sz="2400" b="0" i="0" dirty="0">
                <a:solidFill>
                  <a:srgbClr val="374151"/>
                </a:solidFill>
                <a:effectLst/>
                <a:latin typeface="Söhne"/>
              </a:rPr>
              <a:t>Our security policy objectives are guided by principles of confidentiality, integrity, and availability. We strive to maintain data privacy, uphold information integrity, and ensure continuous availability of services within our cloud environment. These principles are the foundation of our security framework.</a:t>
            </a:r>
            <a:endParaRPr lang="en-US" sz="2400" dirty="0"/>
          </a:p>
        </p:txBody>
      </p:sp>
    </p:spTree>
    <p:extLst>
      <p:ext uri="{BB962C8B-B14F-4D97-AF65-F5344CB8AC3E}">
        <p14:creationId xmlns:p14="http://schemas.microsoft.com/office/powerpoint/2010/main" val="1136921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2CA9A-5C8D-C9B1-DD06-E078F0F1401D}"/>
              </a:ext>
            </a:extLst>
          </p:cNvPr>
          <p:cNvSpPr>
            <a:spLocks noGrp="1"/>
          </p:cNvSpPr>
          <p:nvPr>
            <p:ph type="title"/>
          </p:nvPr>
        </p:nvSpPr>
        <p:spPr/>
        <p:txBody>
          <a:bodyPr/>
          <a:lstStyle/>
          <a:p>
            <a:r>
              <a:rPr lang="en-GB" b="1" i="0" dirty="0">
                <a:effectLst/>
                <a:latin typeface="Söhne"/>
              </a:rPr>
              <a:t>Mitigation Strategies</a:t>
            </a:r>
            <a:endParaRPr lang="en-US" dirty="0"/>
          </a:p>
        </p:txBody>
      </p:sp>
      <p:sp>
        <p:nvSpPr>
          <p:cNvPr id="3" name="Content Placeholder 2">
            <a:extLst>
              <a:ext uri="{FF2B5EF4-FFF2-40B4-BE49-F238E27FC236}">
                <a16:creationId xmlns:a16="http://schemas.microsoft.com/office/drawing/2014/main" id="{D0007CBC-1287-472F-F6CE-D3A115233671}"/>
              </a:ext>
            </a:extLst>
          </p:cNvPr>
          <p:cNvSpPr>
            <a:spLocks noGrp="1"/>
          </p:cNvSpPr>
          <p:nvPr>
            <p:ph idx="1"/>
          </p:nvPr>
        </p:nvSpPr>
        <p:spPr/>
        <p:txBody>
          <a:bodyPr>
            <a:normAutofit/>
          </a:bodyPr>
          <a:lstStyle/>
          <a:p>
            <a:r>
              <a:rPr lang="en-GB" sz="2400" b="0" i="0" dirty="0">
                <a:solidFill>
                  <a:srgbClr val="374151"/>
                </a:solidFill>
                <a:effectLst/>
                <a:latin typeface="Söhne"/>
              </a:rPr>
              <a:t>For each asset, we've implemented tailored mitigation strategies to address identified threats and vulnerabilities. These actions include enhanced access controls, encryption, and redundancy measures. By proactively addressing these concerns, we fortify our cloud assets against potential risks, ensuring their security and availability.</a:t>
            </a:r>
            <a:endParaRPr lang="en-US" sz="2400" dirty="0"/>
          </a:p>
        </p:txBody>
      </p:sp>
    </p:spTree>
    <p:extLst>
      <p:ext uri="{BB962C8B-B14F-4D97-AF65-F5344CB8AC3E}">
        <p14:creationId xmlns:p14="http://schemas.microsoft.com/office/powerpoint/2010/main" val="3477758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35D7E-A142-AB7C-EA44-D09A3A6C38EB}"/>
              </a:ext>
            </a:extLst>
          </p:cNvPr>
          <p:cNvSpPr>
            <a:spLocks noGrp="1"/>
          </p:cNvSpPr>
          <p:nvPr>
            <p:ph type="title"/>
          </p:nvPr>
        </p:nvSpPr>
        <p:spPr/>
        <p:txBody>
          <a:bodyPr/>
          <a:lstStyle/>
          <a:p>
            <a:r>
              <a:rPr lang="en-GB" b="1" i="0" dirty="0">
                <a:effectLst/>
                <a:latin typeface="Söhne"/>
              </a:rPr>
              <a:t>Monitoring and Maintenance</a:t>
            </a:r>
            <a:endParaRPr lang="en-US" dirty="0"/>
          </a:p>
        </p:txBody>
      </p:sp>
      <p:sp>
        <p:nvSpPr>
          <p:cNvPr id="3" name="Content Placeholder 2">
            <a:extLst>
              <a:ext uri="{FF2B5EF4-FFF2-40B4-BE49-F238E27FC236}">
                <a16:creationId xmlns:a16="http://schemas.microsoft.com/office/drawing/2014/main" id="{B59C668C-A265-C452-82ED-64E6091ACBAA}"/>
              </a:ext>
            </a:extLst>
          </p:cNvPr>
          <p:cNvSpPr>
            <a:spLocks noGrp="1"/>
          </p:cNvSpPr>
          <p:nvPr>
            <p:ph idx="1"/>
          </p:nvPr>
        </p:nvSpPr>
        <p:spPr/>
        <p:txBody>
          <a:bodyPr>
            <a:normAutofit/>
          </a:bodyPr>
          <a:lstStyle/>
          <a:p>
            <a:r>
              <a:rPr lang="en-GB" sz="2400" b="0" i="0" dirty="0">
                <a:solidFill>
                  <a:srgbClr val="374151"/>
                </a:solidFill>
                <a:effectLst/>
                <a:latin typeface="Söhne"/>
              </a:rPr>
              <a:t>Continuous monitoring and updates are essential to our security framework. We maintain vigilance through regular assessments, audits, and updates, ensuring our cloud security measures remain effective and adaptive.</a:t>
            </a:r>
            <a:endParaRPr lang="en-US" sz="2400" dirty="0"/>
          </a:p>
        </p:txBody>
      </p:sp>
    </p:spTree>
    <p:extLst>
      <p:ext uri="{BB962C8B-B14F-4D97-AF65-F5344CB8AC3E}">
        <p14:creationId xmlns:p14="http://schemas.microsoft.com/office/powerpoint/2010/main" val="2536569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9CE65-9ED1-30B9-2564-AFCB434E2AF2}"/>
              </a:ext>
            </a:extLst>
          </p:cNvPr>
          <p:cNvSpPr>
            <a:spLocks noGrp="1"/>
          </p:cNvSpPr>
          <p:nvPr>
            <p:ph type="title"/>
          </p:nvPr>
        </p:nvSpPr>
        <p:spPr/>
        <p:txBody>
          <a:bodyPr/>
          <a:lstStyle/>
          <a:p>
            <a:r>
              <a:rPr lang="en-GB" b="1" i="0" dirty="0">
                <a:effectLst/>
                <a:latin typeface="Söhne"/>
              </a:rPr>
              <a:t>Business Continuity</a:t>
            </a:r>
            <a:endParaRPr lang="en-US" dirty="0"/>
          </a:p>
        </p:txBody>
      </p:sp>
      <p:sp>
        <p:nvSpPr>
          <p:cNvPr id="3" name="Content Placeholder 2">
            <a:extLst>
              <a:ext uri="{FF2B5EF4-FFF2-40B4-BE49-F238E27FC236}">
                <a16:creationId xmlns:a16="http://schemas.microsoft.com/office/drawing/2014/main" id="{5DC18E2E-3000-C7A5-6CFE-19D7513D3F6D}"/>
              </a:ext>
            </a:extLst>
          </p:cNvPr>
          <p:cNvSpPr>
            <a:spLocks noGrp="1"/>
          </p:cNvSpPr>
          <p:nvPr>
            <p:ph idx="1"/>
          </p:nvPr>
        </p:nvSpPr>
        <p:spPr>
          <a:xfrm>
            <a:off x="1130270" y="2171769"/>
            <a:ext cx="5459715" cy="3294576"/>
          </a:xfrm>
        </p:spPr>
        <p:txBody>
          <a:bodyPr/>
          <a:lstStyle/>
          <a:p>
            <a:r>
              <a:rPr lang="en-GB" b="0" i="0" dirty="0">
                <a:solidFill>
                  <a:srgbClr val="374151"/>
                </a:solidFill>
                <a:effectLst/>
                <a:latin typeface="Söhne"/>
              </a:rPr>
              <a:t>Business continuity and disaster recovery plans are fundamental. They ensure our operations can persist through disruptions, safeguarding our services and data in the cloud environment.</a:t>
            </a:r>
            <a:endParaRPr lang="en-US" dirty="0"/>
          </a:p>
        </p:txBody>
      </p:sp>
      <p:pic>
        <p:nvPicPr>
          <p:cNvPr id="5" name="Picture 4">
            <a:extLst>
              <a:ext uri="{FF2B5EF4-FFF2-40B4-BE49-F238E27FC236}">
                <a16:creationId xmlns:a16="http://schemas.microsoft.com/office/drawing/2014/main" id="{36232D48-3A33-DBD4-C129-4645B9C99FDE}"/>
              </a:ext>
            </a:extLst>
          </p:cNvPr>
          <p:cNvPicPr>
            <a:picLocks noChangeAspect="1"/>
          </p:cNvPicPr>
          <p:nvPr/>
        </p:nvPicPr>
        <p:blipFill>
          <a:blip r:embed="rId2"/>
          <a:stretch>
            <a:fillRect/>
          </a:stretch>
        </p:blipFill>
        <p:spPr>
          <a:xfrm>
            <a:off x="6779173" y="1277664"/>
            <a:ext cx="2908300" cy="3314700"/>
          </a:xfrm>
          <a:prstGeom prst="rect">
            <a:avLst/>
          </a:prstGeom>
        </p:spPr>
      </p:pic>
    </p:spTree>
    <p:extLst>
      <p:ext uri="{BB962C8B-B14F-4D97-AF65-F5344CB8AC3E}">
        <p14:creationId xmlns:p14="http://schemas.microsoft.com/office/powerpoint/2010/main" val="531531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CB493-36E7-8C85-2FAB-FC41106CDF9F}"/>
              </a:ext>
            </a:extLst>
          </p:cNvPr>
          <p:cNvSpPr>
            <a:spLocks noGrp="1"/>
          </p:cNvSpPr>
          <p:nvPr>
            <p:ph type="title"/>
          </p:nvPr>
        </p:nvSpPr>
        <p:spPr/>
        <p:txBody>
          <a:bodyPr/>
          <a:lstStyle/>
          <a:p>
            <a:r>
              <a:rPr lang="en-GB" b="1" i="0" dirty="0">
                <a:effectLst/>
                <a:latin typeface="Söhne"/>
              </a:rPr>
              <a:t>Access Control Policies</a:t>
            </a:r>
            <a:endParaRPr lang="en-US" dirty="0"/>
          </a:p>
        </p:txBody>
      </p:sp>
      <p:sp>
        <p:nvSpPr>
          <p:cNvPr id="3" name="Content Placeholder 2">
            <a:extLst>
              <a:ext uri="{FF2B5EF4-FFF2-40B4-BE49-F238E27FC236}">
                <a16:creationId xmlns:a16="http://schemas.microsoft.com/office/drawing/2014/main" id="{6B3C94F9-4FD6-DC76-8A79-2A99747F4A2F}"/>
              </a:ext>
            </a:extLst>
          </p:cNvPr>
          <p:cNvSpPr>
            <a:spLocks noGrp="1"/>
          </p:cNvSpPr>
          <p:nvPr>
            <p:ph idx="1"/>
          </p:nvPr>
        </p:nvSpPr>
        <p:spPr>
          <a:xfrm>
            <a:off x="440660" y="2161258"/>
            <a:ext cx="5491247" cy="3294576"/>
          </a:xfrm>
        </p:spPr>
        <p:txBody>
          <a:bodyPr>
            <a:normAutofit/>
          </a:bodyPr>
          <a:lstStyle/>
          <a:p>
            <a:r>
              <a:rPr lang="en-GB" sz="2400" b="0" i="0" dirty="0">
                <a:solidFill>
                  <a:srgbClr val="374151"/>
                </a:solidFill>
                <a:effectLst/>
                <a:latin typeface="Söhne"/>
              </a:rPr>
              <a:t>Our access control policies dictate stringent restrictions and robust authentication methods. They ensure that only authorized individuals gain access to our cloud assets, enhancing security and data protection.</a:t>
            </a:r>
            <a:endParaRPr lang="en-US" sz="2400" dirty="0"/>
          </a:p>
        </p:txBody>
      </p:sp>
      <p:pic>
        <p:nvPicPr>
          <p:cNvPr id="5" name="Picture 4">
            <a:extLst>
              <a:ext uri="{FF2B5EF4-FFF2-40B4-BE49-F238E27FC236}">
                <a16:creationId xmlns:a16="http://schemas.microsoft.com/office/drawing/2014/main" id="{26197452-0DC8-67A0-57B3-CF1C9EB17552}"/>
              </a:ext>
            </a:extLst>
          </p:cNvPr>
          <p:cNvPicPr>
            <a:picLocks noChangeAspect="1"/>
          </p:cNvPicPr>
          <p:nvPr/>
        </p:nvPicPr>
        <p:blipFill>
          <a:blip r:embed="rId2"/>
          <a:stretch>
            <a:fillRect/>
          </a:stretch>
        </p:blipFill>
        <p:spPr>
          <a:xfrm>
            <a:off x="5833240" y="1374925"/>
            <a:ext cx="6358759" cy="3370788"/>
          </a:xfrm>
          <a:prstGeom prst="rect">
            <a:avLst/>
          </a:prstGeom>
        </p:spPr>
      </p:pic>
    </p:spTree>
    <p:extLst>
      <p:ext uri="{BB962C8B-B14F-4D97-AF65-F5344CB8AC3E}">
        <p14:creationId xmlns:p14="http://schemas.microsoft.com/office/powerpoint/2010/main" val="2155127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0B455-2AF9-6230-2EDE-3BA9068C808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C98793F-1743-DD57-5529-5C46D1F052C0}"/>
              </a:ext>
            </a:extLst>
          </p:cNvPr>
          <p:cNvPicPr>
            <a:picLocks noGrp="1" noChangeAspect="1"/>
          </p:cNvPicPr>
          <p:nvPr>
            <p:ph idx="1"/>
          </p:nvPr>
        </p:nvPicPr>
        <p:blipFill>
          <a:blip r:embed="rId2"/>
          <a:stretch>
            <a:fillRect/>
          </a:stretch>
        </p:blipFill>
        <p:spPr>
          <a:xfrm>
            <a:off x="136633" y="178676"/>
            <a:ext cx="11529849" cy="6032938"/>
          </a:xfrm>
        </p:spPr>
      </p:pic>
    </p:spTree>
    <p:extLst>
      <p:ext uri="{BB962C8B-B14F-4D97-AF65-F5344CB8AC3E}">
        <p14:creationId xmlns:p14="http://schemas.microsoft.com/office/powerpoint/2010/main" val="3424338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6F509-49D4-D055-B978-EC79334B2D0D}"/>
              </a:ext>
            </a:extLst>
          </p:cNvPr>
          <p:cNvSpPr>
            <a:spLocks noGrp="1"/>
          </p:cNvSpPr>
          <p:nvPr>
            <p:ph type="title"/>
          </p:nvPr>
        </p:nvSpPr>
        <p:spPr/>
        <p:txBody>
          <a:bodyPr/>
          <a:lstStyle/>
          <a:p>
            <a:r>
              <a:rPr lang="en-GB" b="1" i="0" dirty="0">
                <a:effectLst/>
                <a:latin typeface="Söhne"/>
              </a:rPr>
              <a:t>Conclusion</a:t>
            </a:r>
            <a:endParaRPr lang="en-US" dirty="0"/>
          </a:p>
        </p:txBody>
      </p:sp>
      <p:sp>
        <p:nvSpPr>
          <p:cNvPr id="3" name="Content Placeholder 2">
            <a:extLst>
              <a:ext uri="{FF2B5EF4-FFF2-40B4-BE49-F238E27FC236}">
                <a16:creationId xmlns:a16="http://schemas.microsoft.com/office/drawing/2014/main" id="{6EEE664C-C22F-2819-6D4D-02A160D7A953}"/>
              </a:ext>
            </a:extLst>
          </p:cNvPr>
          <p:cNvSpPr>
            <a:spLocks noGrp="1"/>
          </p:cNvSpPr>
          <p:nvPr>
            <p:ph idx="1"/>
          </p:nvPr>
        </p:nvSpPr>
        <p:spPr/>
        <p:txBody>
          <a:bodyPr>
            <a:normAutofit/>
          </a:bodyPr>
          <a:lstStyle/>
          <a:p>
            <a:r>
              <a:rPr lang="en-GB" sz="2400" b="0" i="0" dirty="0">
                <a:solidFill>
                  <a:srgbClr val="374151"/>
                </a:solidFill>
                <a:effectLst/>
                <a:latin typeface="Söhne"/>
              </a:rPr>
              <a:t>In conclusion, securing our cloud environment is paramount. It underpins our operations, protecting data and services, and ensuring resilience.</a:t>
            </a:r>
            <a:endParaRPr lang="en-US" sz="2400" dirty="0"/>
          </a:p>
        </p:txBody>
      </p:sp>
    </p:spTree>
    <p:extLst>
      <p:ext uri="{BB962C8B-B14F-4D97-AF65-F5344CB8AC3E}">
        <p14:creationId xmlns:p14="http://schemas.microsoft.com/office/powerpoint/2010/main" val="386619167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CDCE0"/>
      </a:lt2>
      <a:accent1>
        <a:srgbClr val="415588"/>
      </a:accent1>
      <a:accent2>
        <a:srgbClr val="4294B6"/>
      </a:accent2>
      <a:accent3>
        <a:srgbClr val="087D7C"/>
      </a:accent3>
      <a:accent4>
        <a:srgbClr val="2CB663"/>
      </a:accent4>
      <a:accent5>
        <a:srgbClr val="DF8822"/>
      </a:accent5>
      <a:accent6>
        <a:srgbClr val="BC410A"/>
      </a:accent6>
      <a:hlink>
        <a:srgbClr val="5977C4"/>
      </a:hlink>
      <a:folHlink>
        <a:srgbClr val="A1A9BF"/>
      </a:folHlink>
    </a:clrScheme>
    <a:fontScheme name="Gallery">
      <a:majorFont>
        <a:latin typeface="Century Gothic" panose="020B0502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lumMod val="108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E050AC27-895F-4B90-991D-A6818FC89AB6}"/>
    </a:ext>
  </a:extLst>
</a:theme>
</file>

<file path=docProps/app.xml><?xml version="1.0" encoding="utf-8"?>
<Properties xmlns="http://schemas.openxmlformats.org/officeDocument/2006/extended-properties" xmlns:vt="http://schemas.openxmlformats.org/officeDocument/2006/docPropsVTypes">
  <Template>{0D5C6805-7D11-504A-84C6-049392FE61E5}tf10001119_mac</Template>
  <TotalTime>2227</TotalTime>
  <Words>468</Words>
  <Application>Microsoft Macintosh PowerPoint</Application>
  <PresentationFormat>Widescreen</PresentationFormat>
  <Paragraphs>34</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Century Gothic</vt:lpstr>
      <vt:lpstr>Söhne</vt:lpstr>
      <vt:lpstr>Gallery</vt:lpstr>
      <vt:lpstr>Security Framework for SwiftTech Solutions Ltd</vt:lpstr>
      <vt:lpstr>Contents</vt:lpstr>
      <vt:lpstr>Introduction</vt:lpstr>
      <vt:lpstr>Scenario Overview</vt:lpstr>
      <vt:lpstr>Framework Scope</vt:lpstr>
      <vt:lpstr>Risk Assessment and Threat Identification</vt:lpstr>
      <vt:lpstr>Security Policy Objectives</vt:lpstr>
      <vt:lpstr>Mitigation Strategies</vt:lpstr>
      <vt:lpstr>Monitoring and Maintenance</vt:lpstr>
      <vt:lpstr>Business Continuity</vt:lpstr>
      <vt:lpstr>Access Control Policies</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Framework for SwiftTech Solutions Ltd</dc:title>
  <dc:creator>Tobi Adeshina</dc:creator>
  <cp:lastModifiedBy>Tobi Adeshina</cp:lastModifiedBy>
  <cp:revision>4</cp:revision>
  <dcterms:created xsi:type="dcterms:W3CDTF">2023-10-19T13:48:31Z</dcterms:created>
  <dcterms:modified xsi:type="dcterms:W3CDTF">2026-08-02T22:35:21Z</dcterms:modified>
</cp:coreProperties>
</file>