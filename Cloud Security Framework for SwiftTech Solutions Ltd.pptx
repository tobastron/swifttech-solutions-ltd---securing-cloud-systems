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0"/>
  </p:notesMasterIdLst>
  <p:handoutMasterIdLst>
    <p:handoutMasterId r:id="rId21"/>
  </p:handoutMasterIdLst>
  <p:sldIdLst>
    <p:sldId id="410" r:id="rId5"/>
    <p:sldId id="383" r:id="rId6"/>
    <p:sldId id="391" r:id="rId7"/>
    <p:sldId id="408" r:id="rId8"/>
    <p:sldId id="411" r:id="rId9"/>
    <p:sldId id="412" r:id="rId10"/>
    <p:sldId id="413" r:id="rId11"/>
    <p:sldId id="414" r:id="rId12"/>
    <p:sldId id="415" r:id="rId13"/>
    <p:sldId id="416" r:id="rId14"/>
    <p:sldId id="417" r:id="rId15"/>
    <p:sldId id="418" r:id="rId16"/>
    <p:sldId id="419" r:id="rId17"/>
    <p:sldId id="420" r:id="rId18"/>
    <p:sldId id="39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6327" autoAdjust="0"/>
  </p:normalViewPr>
  <p:slideViewPr>
    <p:cSldViewPr snapToGrid="0">
      <p:cViewPr varScale="1">
        <p:scale>
          <a:sx n="90" d="100"/>
          <a:sy n="90" d="100"/>
        </p:scale>
        <p:origin x="576"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2/2/2024</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2/2/2024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964482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15</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6309904" y="411479"/>
            <a:ext cx="5486400" cy="3291840"/>
          </a:xfrm>
        </p:spPr>
        <p:txBody>
          <a:bodyPr/>
          <a:lstStyle/>
          <a:p>
            <a:r>
              <a:rPr lang="en-US" sz="3200" dirty="0"/>
              <a:t>Cloud Security Framework for </a:t>
            </a:r>
            <a:r>
              <a:rPr lang="en-US" sz="3200" dirty="0" err="1"/>
              <a:t>SwiftTech</a:t>
            </a:r>
            <a:r>
              <a:rPr lang="en-US" sz="3200" dirty="0"/>
              <a:t> Solutions Ltd.</a:t>
            </a:r>
          </a:p>
        </p:txBody>
      </p:sp>
      <p:sp>
        <p:nvSpPr>
          <p:cNvPr id="4" name="TextBox 3">
            <a:extLst>
              <a:ext uri="{FF2B5EF4-FFF2-40B4-BE49-F238E27FC236}">
                <a16:creationId xmlns:a16="http://schemas.microsoft.com/office/drawing/2014/main" id="{70A5F6FD-76F2-21E1-CF56-3820B9A2B2E8}"/>
              </a:ext>
            </a:extLst>
          </p:cNvPr>
          <p:cNvSpPr txBox="1"/>
          <p:nvPr/>
        </p:nvSpPr>
        <p:spPr>
          <a:xfrm>
            <a:off x="6309903" y="4054194"/>
            <a:ext cx="3280663" cy="707886"/>
          </a:xfrm>
          <a:prstGeom prst="rect">
            <a:avLst/>
          </a:prstGeom>
          <a:noFill/>
        </p:spPr>
        <p:txBody>
          <a:bodyPr wrap="square" rtlCol="0">
            <a:spAutoFit/>
          </a:bodyPr>
          <a:lstStyle/>
          <a:p>
            <a:r>
              <a:rPr lang="en-US" sz="2000" b="0" i="0" dirty="0">
                <a:solidFill>
                  <a:schemeClr val="accent1">
                    <a:lumMod val="50000"/>
                  </a:schemeClr>
                </a:solidFill>
                <a:effectLst/>
                <a:latin typeface="Söhne"/>
              </a:rPr>
              <a:t>Ensuring Secure and Resilient Cloud Infrastructure</a:t>
            </a:r>
            <a:endParaRPr lang="en-US" sz="2000" dirty="0">
              <a:solidFill>
                <a:schemeClr val="accent1">
                  <a:lumMod val="50000"/>
                </a:schemeClr>
              </a:solidFill>
            </a:endParaRP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dirty="0"/>
              <a:t>Agenda</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725" y="2281238"/>
            <a:ext cx="6788150" cy="3709987"/>
          </a:xfrm>
        </p:spPr>
        <p:txBody>
          <a:bodyPr tIns="457200">
            <a:normAutofit fontScale="92500" lnSpcReduction="20000"/>
          </a:bodyPr>
          <a:lstStyle/>
          <a:p>
            <a:r>
              <a:rPr lang="en-US" dirty="0"/>
              <a:t>Overview of the Developed Framework</a:t>
            </a:r>
          </a:p>
          <a:p>
            <a:r>
              <a:rPr lang="en-US" dirty="0"/>
              <a:t>Business Risk and Potential Threats</a:t>
            </a:r>
          </a:p>
          <a:p>
            <a:r>
              <a:rPr lang="en-US" dirty="0"/>
              <a:t>Appraisal and Evaluation of Risks</a:t>
            </a:r>
          </a:p>
          <a:p>
            <a:r>
              <a:rPr lang="en-US" dirty="0"/>
              <a:t>Proposed Mitigations</a:t>
            </a:r>
          </a:p>
          <a:p>
            <a:r>
              <a:rPr lang="en-US" dirty="0"/>
              <a:t>Supporting Industry Cloud Tools</a:t>
            </a:r>
          </a:p>
          <a:p>
            <a:r>
              <a:rPr lang="en-US" dirty="0"/>
              <a:t>Failover and Redundancy Plan</a:t>
            </a:r>
          </a:p>
          <a:p>
            <a:r>
              <a:rPr lang="en-US" dirty="0"/>
              <a:t>Evidence of Applied Security Measures</a:t>
            </a:r>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US" dirty="0"/>
              <a:t>Introduction</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3657600" y="2281238"/>
            <a:ext cx="7810500" cy="3700462"/>
          </a:xfrm>
        </p:spPr>
        <p:txBody>
          <a:bodyPr>
            <a:normAutofit/>
          </a:bodyPr>
          <a:lstStyle/>
          <a:p>
            <a:pPr marL="0" indent="0" algn="ctr">
              <a:buNone/>
            </a:pPr>
            <a:r>
              <a:rPr lang="en-US" dirty="0"/>
              <a:t>The presentation demonstrates a comprehensive overview of </a:t>
            </a:r>
            <a:r>
              <a:rPr lang="en-US" dirty="0" err="1"/>
              <a:t>SwiftTech</a:t>
            </a:r>
            <a:r>
              <a:rPr lang="en-US" dirty="0"/>
              <a:t> Solutions Ltd.'s cloud security framework. We will explore the identified business risks, potential threats, and the strategic evaluation of these challenges. The report outlines proposed mitigations, industry cloud tools in use, failover strategies, and evidence of applied security measures, offering a holistic view of </a:t>
            </a:r>
            <a:r>
              <a:rPr lang="en-US" dirty="0" err="1"/>
              <a:t>SwiftTech's</a:t>
            </a:r>
            <a:r>
              <a:rPr lang="en-US" dirty="0"/>
              <a:t> resilient cloud infrastructure.</a:t>
            </a:r>
          </a:p>
          <a:p>
            <a:endParaRPr lang="en-US" dirty="0"/>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3200312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6ED-721D-85EE-2F1B-A31D0912DE29}"/>
              </a:ext>
            </a:extLst>
          </p:cNvPr>
          <p:cNvSpPr>
            <a:spLocks noGrp="1"/>
          </p:cNvSpPr>
          <p:nvPr>
            <p:ph type="title"/>
          </p:nvPr>
        </p:nvSpPr>
        <p:spPr>
          <a:xfrm>
            <a:off x="594360" y="278129"/>
            <a:ext cx="9778365" cy="1494596"/>
          </a:xfrm>
        </p:spPr>
        <p:txBody>
          <a:bodyPr/>
          <a:lstStyle/>
          <a:p>
            <a:r>
              <a:rPr lang="en-US" b="1" i="0" dirty="0">
                <a:effectLst/>
                <a:latin typeface="Söhne"/>
              </a:rPr>
              <a:t>Framework Overview</a:t>
            </a:r>
            <a:endParaRPr lang="en-US" dirty="0"/>
          </a:p>
        </p:txBody>
      </p:sp>
      <p:sp>
        <p:nvSpPr>
          <p:cNvPr id="3" name="Content Placeholder 2">
            <a:extLst>
              <a:ext uri="{FF2B5EF4-FFF2-40B4-BE49-F238E27FC236}">
                <a16:creationId xmlns:a16="http://schemas.microsoft.com/office/drawing/2014/main" id="{DB097449-5B72-ADA0-3B2D-1CBC160D6B90}"/>
              </a:ext>
            </a:extLst>
          </p:cNvPr>
          <p:cNvSpPr>
            <a:spLocks noGrp="1"/>
          </p:cNvSpPr>
          <p:nvPr>
            <p:ph sz="quarter" idx="15"/>
          </p:nvPr>
        </p:nvSpPr>
        <p:spPr>
          <a:xfrm>
            <a:off x="594360" y="2676525"/>
            <a:ext cx="11090821" cy="3597470"/>
          </a:xfrm>
        </p:spPr>
        <p:txBody>
          <a:bodyPr>
            <a:normAutofit fontScale="62500" lnSpcReduction="20000"/>
          </a:bodyPr>
          <a:lstStyle/>
          <a:p>
            <a:pPr marL="342900" indent="-342900" algn="l">
              <a:buFont typeface="Arial" panose="020B0604020202020204" pitchFamily="34" charset="0"/>
              <a:buChar char="•"/>
            </a:pPr>
            <a:r>
              <a:rPr lang="en-US" b="1" i="0" dirty="0">
                <a:solidFill>
                  <a:schemeClr val="tx2">
                    <a:lumMod val="50000"/>
                  </a:schemeClr>
                </a:solidFill>
                <a:effectLst/>
                <a:latin typeface="Söhne"/>
              </a:rPr>
              <a:t>Cloud Infrastructure Scope and Components:</a:t>
            </a:r>
            <a:endParaRPr lang="en-US" b="0" i="0" dirty="0">
              <a:solidFill>
                <a:schemeClr val="tx2">
                  <a:lumMod val="50000"/>
                </a:schemeClr>
              </a:solidFill>
              <a:effectLst/>
              <a:latin typeface="Söhne"/>
            </a:endParaRPr>
          </a:p>
          <a:p>
            <a:pPr marL="742950" lvl="1" indent="-285750" algn="l">
              <a:buFont typeface="Arial" panose="020B0604020202020204" pitchFamily="34" charset="0"/>
              <a:buChar char="•"/>
            </a:pPr>
            <a:r>
              <a:rPr lang="en-US" b="0" i="0" dirty="0">
                <a:solidFill>
                  <a:schemeClr val="tx2">
                    <a:lumMod val="50000"/>
                  </a:schemeClr>
                </a:solidFill>
                <a:effectLst/>
                <a:latin typeface="Söhne"/>
              </a:rPr>
              <a:t>Our cloud infrastructure spans the entirety of </a:t>
            </a:r>
            <a:r>
              <a:rPr lang="en-US" b="0" i="0" dirty="0" err="1">
                <a:solidFill>
                  <a:schemeClr val="tx2">
                    <a:lumMod val="50000"/>
                  </a:schemeClr>
                </a:solidFill>
                <a:effectLst/>
                <a:latin typeface="Söhne"/>
              </a:rPr>
              <a:t>SwiftTech</a:t>
            </a:r>
            <a:r>
              <a:rPr lang="en-US" b="0" i="0" dirty="0">
                <a:solidFill>
                  <a:schemeClr val="tx2">
                    <a:lumMod val="50000"/>
                  </a:schemeClr>
                </a:solidFill>
                <a:effectLst/>
                <a:latin typeface="Söhne"/>
              </a:rPr>
              <a:t> Solutions Ltd.'s operational landscape, providing a comprehensive and integrated framework.</a:t>
            </a:r>
          </a:p>
          <a:p>
            <a:pPr marL="342900" indent="-342900" algn="l">
              <a:buFont typeface="Arial" panose="020B0604020202020204" pitchFamily="34" charset="0"/>
              <a:buChar char="•"/>
            </a:pPr>
            <a:r>
              <a:rPr lang="en-US" b="1" i="0" dirty="0">
                <a:solidFill>
                  <a:schemeClr val="tx2">
                    <a:lumMod val="50000"/>
                  </a:schemeClr>
                </a:solidFill>
                <a:effectLst/>
                <a:latin typeface="Söhne"/>
              </a:rPr>
              <a:t>Key Elements: Elastic Web Servers, Enterprise Application Servers, VDI, Document Database:</a:t>
            </a:r>
            <a:endParaRPr lang="en-US" b="0" i="0" dirty="0">
              <a:solidFill>
                <a:schemeClr val="tx2">
                  <a:lumMod val="50000"/>
                </a:schemeClr>
              </a:solidFill>
              <a:effectLst/>
              <a:latin typeface="Söhne"/>
            </a:endParaRPr>
          </a:p>
          <a:p>
            <a:pPr marL="457200" lvl="1" indent="0" algn="l">
              <a:buNone/>
            </a:pPr>
            <a:r>
              <a:rPr lang="en-US" b="0" i="0" dirty="0">
                <a:solidFill>
                  <a:schemeClr val="tx2">
                    <a:lumMod val="50000"/>
                  </a:schemeClr>
                </a:solidFill>
                <a:effectLst/>
                <a:latin typeface="Söhne"/>
              </a:rPr>
              <a:t>This framework comprises essential components:</a:t>
            </a:r>
          </a:p>
          <a:p>
            <a:pPr marL="1143000" lvl="2" indent="-228600" algn="l">
              <a:buFont typeface="Arial" panose="020B0604020202020204" pitchFamily="34" charset="0"/>
              <a:buChar char="•"/>
            </a:pPr>
            <a:r>
              <a:rPr lang="en-US" b="1" i="0" dirty="0">
                <a:solidFill>
                  <a:schemeClr val="tx2">
                    <a:lumMod val="50000"/>
                  </a:schemeClr>
                </a:solidFill>
                <a:effectLst/>
                <a:latin typeface="Söhne"/>
              </a:rPr>
              <a:t>Elastic Web Servers:</a:t>
            </a:r>
            <a:r>
              <a:rPr lang="en-US" b="0" i="0" dirty="0">
                <a:solidFill>
                  <a:schemeClr val="tx2">
                    <a:lumMod val="50000"/>
                  </a:schemeClr>
                </a:solidFill>
                <a:effectLst/>
                <a:latin typeface="Söhne"/>
              </a:rPr>
              <a:t> Utilizing scalable servers such as Apache and Nginx to ensure optimal website performance.</a:t>
            </a:r>
          </a:p>
          <a:p>
            <a:pPr marL="1143000" lvl="2" indent="-228600" algn="l">
              <a:buFont typeface="Arial" panose="020B0604020202020204" pitchFamily="34" charset="0"/>
              <a:buChar char="•"/>
            </a:pPr>
            <a:r>
              <a:rPr lang="en-US" b="1" i="0" dirty="0">
                <a:solidFill>
                  <a:schemeClr val="tx2">
                    <a:lumMod val="50000"/>
                  </a:schemeClr>
                </a:solidFill>
                <a:effectLst/>
                <a:latin typeface="Söhne"/>
              </a:rPr>
              <a:t>Enterprise Application Servers:</a:t>
            </a:r>
            <a:r>
              <a:rPr lang="en-US" b="0" i="0" dirty="0">
                <a:solidFill>
                  <a:schemeClr val="tx2">
                    <a:lumMod val="50000"/>
                  </a:schemeClr>
                </a:solidFill>
                <a:effectLst/>
                <a:latin typeface="Söhne"/>
              </a:rPr>
              <a:t> Powered by Apache </a:t>
            </a:r>
            <a:r>
              <a:rPr lang="en-US" b="0" i="0" dirty="0" err="1">
                <a:solidFill>
                  <a:schemeClr val="tx2">
                    <a:lumMod val="50000"/>
                  </a:schemeClr>
                </a:solidFill>
                <a:effectLst/>
                <a:latin typeface="Söhne"/>
              </a:rPr>
              <a:t>OfBiz</a:t>
            </a:r>
            <a:r>
              <a:rPr lang="en-US" b="0" i="0" dirty="0">
                <a:solidFill>
                  <a:schemeClr val="tx2">
                    <a:lumMod val="50000"/>
                  </a:schemeClr>
                </a:solidFill>
                <a:effectLst/>
                <a:latin typeface="Söhne"/>
              </a:rPr>
              <a:t>, facilitating robust Enterprise Resource Planning (ERP) systems to enhance business operations.</a:t>
            </a:r>
          </a:p>
          <a:p>
            <a:pPr marL="1143000" lvl="2" indent="-228600" algn="l">
              <a:buFont typeface="Arial" panose="020B0604020202020204" pitchFamily="34" charset="0"/>
              <a:buChar char="•"/>
            </a:pPr>
            <a:r>
              <a:rPr lang="en-US" b="1" i="0" dirty="0">
                <a:solidFill>
                  <a:schemeClr val="tx2">
                    <a:lumMod val="50000"/>
                  </a:schemeClr>
                </a:solidFill>
                <a:effectLst/>
                <a:latin typeface="Söhne"/>
              </a:rPr>
              <a:t>Virtual Desktop Infrastructure (VDI):</a:t>
            </a:r>
            <a:r>
              <a:rPr lang="en-US" b="0" i="0" dirty="0">
                <a:solidFill>
                  <a:schemeClr val="tx2">
                    <a:lumMod val="50000"/>
                  </a:schemeClr>
                </a:solidFill>
                <a:effectLst/>
                <a:latin typeface="Söhne"/>
              </a:rPr>
              <a:t> Empowering secure access to work desktop environments from any location.</a:t>
            </a:r>
          </a:p>
          <a:p>
            <a:pPr marL="1143000" lvl="2" indent="-228600" algn="l">
              <a:buFont typeface="Arial" panose="020B0604020202020204" pitchFamily="34" charset="0"/>
              <a:buChar char="•"/>
            </a:pPr>
            <a:r>
              <a:rPr lang="en-US" b="1" i="0" dirty="0">
                <a:solidFill>
                  <a:schemeClr val="tx2">
                    <a:lumMod val="50000"/>
                  </a:schemeClr>
                </a:solidFill>
                <a:effectLst/>
                <a:latin typeface="Söhne"/>
              </a:rPr>
              <a:t>Document Database:</a:t>
            </a:r>
            <a:r>
              <a:rPr lang="en-US" b="0" i="0" dirty="0">
                <a:solidFill>
                  <a:schemeClr val="tx2">
                    <a:lumMod val="50000"/>
                  </a:schemeClr>
                </a:solidFill>
                <a:effectLst/>
                <a:latin typeface="Söhne"/>
              </a:rPr>
              <a:t> Transitioning to a non-relational format for enhanced flexibility and scalability.</a:t>
            </a:r>
          </a:p>
          <a:p>
            <a:pPr marL="342900" indent="-342900" algn="l">
              <a:buFont typeface="Arial" panose="020B0604020202020204" pitchFamily="34" charset="0"/>
              <a:buChar char="•"/>
            </a:pPr>
            <a:r>
              <a:rPr lang="en-US" b="1" i="0" dirty="0">
                <a:solidFill>
                  <a:schemeClr val="tx2">
                    <a:lumMod val="50000"/>
                  </a:schemeClr>
                </a:solidFill>
                <a:effectLst/>
                <a:latin typeface="Söhne"/>
              </a:rPr>
              <a:t>Emphasis on Scalability, Accessibility, and Support for Remote and On-site Work: </a:t>
            </a:r>
            <a:r>
              <a:rPr lang="en-US" b="0" i="0" dirty="0">
                <a:solidFill>
                  <a:schemeClr val="tx2">
                    <a:lumMod val="50000"/>
                  </a:schemeClr>
                </a:solidFill>
                <a:effectLst/>
                <a:latin typeface="Söhne"/>
              </a:rPr>
              <a:t>Designed with scalability in mind, our framework adapts to varying workloads seamlessly.  Accessibility is prioritized for both remote and on-site staff, ensuring a cohesive work experience.</a:t>
            </a:r>
          </a:p>
          <a:p>
            <a:pPr marL="548640" indent="-228600"/>
            <a:endParaRPr lang="en-US" b="0" i="0" dirty="0">
              <a:solidFill>
                <a:schemeClr val="tx2">
                  <a:lumMod val="50000"/>
                </a:schemeClr>
              </a:solidFill>
              <a:effectLst/>
              <a:latin typeface="Söhne"/>
            </a:endParaRPr>
          </a:p>
          <a:p>
            <a:endParaRPr lang="en-US" dirty="0"/>
          </a:p>
        </p:txBody>
      </p:sp>
    </p:spTree>
    <p:extLst>
      <p:ext uri="{BB962C8B-B14F-4D97-AF65-F5344CB8AC3E}">
        <p14:creationId xmlns:p14="http://schemas.microsoft.com/office/powerpoint/2010/main" val="888484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D528D-10D7-C9D1-875B-6FA4AFD1E7DC}"/>
              </a:ext>
            </a:extLst>
          </p:cNvPr>
          <p:cNvSpPr>
            <a:spLocks noGrp="1"/>
          </p:cNvSpPr>
          <p:nvPr>
            <p:ph type="title"/>
          </p:nvPr>
        </p:nvSpPr>
        <p:spPr>
          <a:xfrm>
            <a:off x="575310" y="278129"/>
            <a:ext cx="5063490" cy="2354026"/>
          </a:xfrm>
        </p:spPr>
        <p:txBody>
          <a:bodyPr anchor="b">
            <a:normAutofit/>
          </a:bodyPr>
          <a:lstStyle/>
          <a:p>
            <a:r>
              <a:rPr lang="en-US" dirty="0"/>
              <a:t>Developed Framework - Key Components</a:t>
            </a:r>
          </a:p>
        </p:txBody>
      </p:sp>
      <p:sp>
        <p:nvSpPr>
          <p:cNvPr id="3" name="Content Placeholder 2">
            <a:extLst>
              <a:ext uri="{FF2B5EF4-FFF2-40B4-BE49-F238E27FC236}">
                <a16:creationId xmlns:a16="http://schemas.microsoft.com/office/drawing/2014/main" id="{35110DD0-B18C-29A2-84C0-E62CD501FA83}"/>
              </a:ext>
            </a:extLst>
          </p:cNvPr>
          <p:cNvSpPr>
            <a:spLocks noGrp="1"/>
          </p:cNvSpPr>
          <p:nvPr>
            <p:ph sz="quarter" idx="16"/>
          </p:nvPr>
        </p:nvSpPr>
        <p:spPr>
          <a:xfrm>
            <a:off x="594360" y="3279579"/>
            <a:ext cx="5044440" cy="2994415"/>
          </a:xfrm>
        </p:spPr>
        <p:txBody>
          <a:bodyPr>
            <a:normAutofit/>
          </a:bodyPr>
          <a:lstStyle/>
          <a:p>
            <a:r>
              <a:rPr lang="en-US" sz="1700"/>
              <a:t>Elastic Web Servers: Utilizing scalable servers (e.g., Apache, Nginx) for optimal website performance.</a:t>
            </a:r>
          </a:p>
          <a:p>
            <a:r>
              <a:rPr lang="en-US" sz="1700"/>
              <a:t>Enterprise Application Servers: Deployment of Apache </a:t>
            </a:r>
            <a:r>
              <a:rPr lang="en-US" sz="1700" err="1"/>
              <a:t>OfBiz</a:t>
            </a:r>
            <a:r>
              <a:rPr lang="en-US" sz="1700"/>
              <a:t> for ERP systems, enhancing business operations.</a:t>
            </a:r>
          </a:p>
          <a:p>
            <a:r>
              <a:rPr lang="en-US" sz="1700"/>
              <a:t>Virtual Desktop Infrastructure (VDI): Enabling secure access to work desktop environments from anywhere.</a:t>
            </a:r>
          </a:p>
          <a:p>
            <a:r>
              <a:rPr lang="en-US" sz="1700"/>
              <a:t>Document Database: Transition to a non-relational document database for flexibility and scalability.</a:t>
            </a:r>
          </a:p>
        </p:txBody>
      </p:sp>
      <p:pic>
        <p:nvPicPr>
          <p:cNvPr id="2050" name="Picture 2" descr="A screenshot of a computer diagram&#10;&#10;Description automatically generated">
            <a:extLst>
              <a:ext uri="{FF2B5EF4-FFF2-40B4-BE49-F238E27FC236}">
                <a16:creationId xmlns:a16="http://schemas.microsoft.com/office/drawing/2014/main" id="{04D75514-D11F-9AD2-A97B-1DF29D9D671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6000" y="112889"/>
            <a:ext cx="6118225" cy="6632221"/>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8861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D528D-10D7-C9D1-875B-6FA4AFD1E7DC}"/>
              </a:ext>
            </a:extLst>
          </p:cNvPr>
          <p:cNvSpPr>
            <a:spLocks noGrp="1"/>
          </p:cNvSpPr>
          <p:nvPr>
            <p:ph type="title"/>
          </p:nvPr>
        </p:nvSpPr>
        <p:spPr>
          <a:xfrm>
            <a:off x="575310" y="278129"/>
            <a:ext cx="5063490" cy="2354026"/>
          </a:xfrm>
        </p:spPr>
        <p:txBody>
          <a:bodyPr anchor="b">
            <a:normAutofit/>
          </a:bodyPr>
          <a:lstStyle/>
          <a:p>
            <a:r>
              <a:rPr lang="en-US" dirty="0"/>
              <a:t>Developed Framework - Document Database</a:t>
            </a:r>
          </a:p>
        </p:txBody>
      </p:sp>
      <p:sp>
        <p:nvSpPr>
          <p:cNvPr id="3" name="Content Placeholder 2">
            <a:extLst>
              <a:ext uri="{FF2B5EF4-FFF2-40B4-BE49-F238E27FC236}">
                <a16:creationId xmlns:a16="http://schemas.microsoft.com/office/drawing/2014/main" id="{35110DD0-B18C-29A2-84C0-E62CD501FA83}"/>
              </a:ext>
            </a:extLst>
          </p:cNvPr>
          <p:cNvSpPr>
            <a:spLocks noGrp="1"/>
          </p:cNvSpPr>
          <p:nvPr>
            <p:ph sz="quarter" idx="16"/>
          </p:nvPr>
        </p:nvSpPr>
        <p:spPr>
          <a:xfrm>
            <a:off x="594360" y="3279579"/>
            <a:ext cx="5044440" cy="2994415"/>
          </a:xfrm>
        </p:spPr>
        <p:txBody>
          <a:bodyPr>
            <a:noAutofit/>
          </a:bodyPr>
          <a:lstStyle/>
          <a:p>
            <a:pPr algn="l">
              <a:lnSpc>
                <a:spcPct val="120000"/>
              </a:lnSpc>
              <a:buFont typeface="Arial" panose="020B0604020202020204" pitchFamily="34" charset="0"/>
              <a:buChar char="•"/>
            </a:pPr>
            <a:r>
              <a:rPr lang="en-US" sz="1400" b="1" i="0" dirty="0">
                <a:solidFill>
                  <a:schemeClr val="tx2">
                    <a:lumMod val="50000"/>
                  </a:schemeClr>
                </a:solidFill>
                <a:effectLst/>
                <a:latin typeface="Söhne"/>
              </a:rPr>
              <a:t>Employee Data:</a:t>
            </a:r>
            <a:r>
              <a:rPr lang="en-US" sz="1400" dirty="0">
                <a:solidFill>
                  <a:schemeClr val="tx2">
                    <a:lumMod val="50000"/>
                  </a:schemeClr>
                </a:solidFill>
                <a:latin typeface="Söhne"/>
              </a:rPr>
              <a:t> </a:t>
            </a:r>
            <a:r>
              <a:rPr lang="en-US" sz="1400" b="0" i="0" dirty="0">
                <a:solidFill>
                  <a:schemeClr val="tx2">
                    <a:lumMod val="50000"/>
                  </a:schemeClr>
                </a:solidFill>
                <a:effectLst/>
                <a:latin typeface="Söhne"/>
              </a:rPr>
              <a:t>Comprehensive records including names, job roles, and contact information in a document format. Enhancing accessibility and management of employee information.</a:t>
            </a:r>
          </a:p>
          <a:p>
            <a:pPr algn="l">
              <a:lnSpc>
                <a:spcPct val="120000"/>
              </a:lnSpc>
              <a:buFont typeface="Arial" panose="020B0604020202020204" pitchFamily="34" charset="0"/>
              <a:buChar char="•"/>
            </a:pPr>
            <a:r>
              <a:rPr lang="en-US" sz="1400" b="1" i="0" dirty="0">
                <a:solidFill>
                  <a:schemeClr val="tx2">
                    <a:lumMod val="50000"/>
                  </a:schemeClr>
                </a:solidFill>
                <a:effectLst/>
                <a:latin typeface="Söhne"/>
              </a:rPr>
              <a:t>Customer Data: </a:t>
            </a:r>
            <a:r>
              <a:rPr lang="en-US" sz="1400" b="0" i="0" dirty="0">
                <a:solidFill>
                  <a:schemeClr val="tx2">
                    <a:lumMod val="50000"/>
                  </a:schemeClr>
                </a:solidFill>
                <a:effectLst/>
                <a:latin typeface="Söhne"/>
              </a:rPr>
              <a:t>Storing and managing customer-related information such as names and transaction histories. Organized in a document-oriented structure for efficient retrieval.</a:t>
            </a:r>
          </a:p>
          <a:p>
            <a:pPr algn="l">
              <a:lnSpc>
                <a:spcPct val="120000"/>
              </a:lnSpc>
              <a:buFont typeface="Arial" panose="020B0604020202020204" pitchFamily="34" charset="0"/>
              <a:buChar char="•"/>
            </a:pPr>
            <a:r>
              <a:rPr lang="en-US" sz="1400" b="1" i="0" dirty="0">
                <a:solidFill>
                  <a:schemeClr val="tx2">
                    <a:lumMod val="50000"/>
                  </a:schemeClr>
                </a:solidFill>
                <a:effectLst/>
                <a:latin typeface="Söhne"/>
              </a:rPr>
              <a:t>Product or Service Data:</a:t>
            </a:r>
            <a:r>
              <a:rPr lang="en-US" sz="1400" dirty="0">
                <a:solidFill>
                  <a:schemeClr val="tx2">
                    <a:lumMod val="50000"/>
                  </a:schemeClr>
                </a:solidFill>
                <a:latin typeface="Söhne"/>
              </a:rPr>
              <a:t> </a:t>
            </a:r>
            <a:r>
              <a:rPr lang="en-US" sz="1400" b="0" i="0" dirty="0">
                <a:solidFill>
                  <a:schemeClr val="tx2">
                    <a:lumMod val="50000"/>
                  </a:schemeClr>
                </a:solidFill>
                <a:effectLst/>
                <a:latin typeface="Söhne"/>
              </a:rPr>
              <a:t>Housing crucial information about products or services. Includes specifications, pricing details, and service descriptions in a document-oriented format.</a:t>
            </a:r>
          </a:p>
          <a:p>
            <a:pPr>
              <a:lnSpc>
                <a:spcPct val="120000"/>
              </a:lnSpc>
            </a:pPr>
            <a:endParaRPr lang="en-US" sz="1400" dirty="0">
              <a:solidFill>
                <a:schemeClr val="tx2">
                  <a:lumMod val="50000"/>
                </a:schemeClr>
              </a:solidFill>
            </a:endParaRPr>
          </a:p>
        </p:txBody>
      </p:sp>
      <p:pic>
        <p:nvPicPr>
          <p:cNvPr id="2050" name="Picture 2" descr="A screenshot of a computer diagram&#10;&#10;Description automatically generated">
            <a:extLst>
              <a:ext uri="{FF2B5EF4-FFF2-40B4-BE49-F238E27FC236}">
                <a16:creationId xmlns:a16="http://schemas.microsoft.com/office/drawing/2014/main" id="{04D75514-D11F-9AD2-A97B-1DF29D9D671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6000" y="112889"/>
            <a:ext cx="6118225" cy="6632221"/>
          </a:xfrm>
          <a:prstGeom prst="rect">
            <a:avLst/>
          </a:prstGeom>
          <a:solidFill>
            <a:srgbClr val="FFFFFF"/>
          </a:solidFill>
        </p:spPr>
      </p:pic>
    </p:spTree>
    <p:extLst>
      <p:ext uri="{BB962C8B-B14F-4D97-AF65-F5344CB8AC3E}">
        <p14:creationId xmlns:p14="http://schemas.microsoft.com/office/powerpoint/2010/main" val="734273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pPr algn="l"/>
            <a:r>
              <a:rPr lang="en-US" b="1" i="0" dirty="0">
                <a:effectLst/>
                <a:latin typeface="Söhne"/>
              </a:rPr>
              <a:t>Business Risks and Potential Threats</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3657600" y="2281238"/>
            <a:ext cx="7810500" cy="3700462"/>
          </a:xfrm>
        </p:spPr>
        <p:txBody>
          <a:bodyPr>
            <a:noAutofit/>
          </a:bodyPr>
          <a:lstStyle/>
          <a:p>
            <a:pPr marL="0" indent="0" algn="l">
              <a:buNone/>
            </a:pPr>
            <a:r>
              <a:rPr lang="en-US" i="0" dirty="0">
                <a:solidFill>
                  <a:schemeClr val="bg1">
                    <a:lumMod val="95000"/>
                    <a:lumOff val="5000"/>
                  </a:schemeClr>
                </a:solidFill>
                <a:effectLst/>
                <a:latin typeface="Söhne"/>
              </a:rPr>
              <a:t>Identification of Business Risks:</a:t>
            </a:r>
          </a:p>
          <a:p>
            <a:pPr algn="l">
              <a:buFont typeface="Arial" panose="020B0604020202020204" pitchFamily="34" charset="0"/>
              <a:buChar char="•"/>
            </a:pPr>
            <a:r>
              <a:rPr lang="en-US" i="0" dirty="0">
                <a:solidFill>
                  <a:schemeClr val="bg1">
                    <a:lumMod val="95000"/>
                    <a:lumOff val="5000"/>
                  </a:schemeClr>
                </a:solidFill>
                <a:effectLst/>
                <a:latin typeface="Söhne"/>
              </a:rPr>
              <a:t>Risk: Data Breach</a:t>
            </a:r>
          </a:p>
          <a:p>
            <a:pPr marL="742950" lvl="1" indent="-285750" algn="l">
              <a:buFont typeface="Arial" panose="020B0604020202020204" pitchFamily="34" charset="0"/>
              <a:buChar char="•"/>
            </a:pPr>
            <a:r>
              <a:rPr lang="en-US" i="0" dirty="0">
                <a:solidFill>
                  <a:schemeClr val="bg1">
                    <a:lumMod val="95000"/>
                    <a:lumOff val="5000"/>
                  </a:schemeClr>
                </a:solidFill>
                <a:effectLst/>
                <a:latin typeface="Söhne"/>
              </a:rPr>
              <a:t>Threats: Unauthorized access, data exposure.</a:t>
            </a:r>
          </a:p>
          <a:p>
            <a:pPr marL="742950" lvl="1" indent="-285750" algn="l">
              <a:buFont typeface="Arial" panose="020B0604020202020204" pitchFamily="34" charset="0"/>
              <a:buChar char="•"/>
            </a:pPr>
            <a:r>
              <a:rPr lang="en-US" i="0" dirty="0">
                <a:solidFill>
                  <a:schemeClr val="bg1">
                    <a:lumMod val="95000"/>
                    <a:lumOff val="5000"/>
                  </a:schemeClr>
                </a:solidFill>
                <a:effectLst/>
                <a:latin typeface="Söhne"/>
              </a:rPr>
              <a:t>Impact: Loss of trust, legal consequences, disruption to operations.</a:t>
            </a:r>
          </a:p>
          <a:p>
            <a:pPr algn="l">
              <a:buFont typeface="Arial" panose="020B0604020202020204" pitchFamily="34" charset="0"/>
              <a:buChar char="•"/>
            </a:pPr>
            <a:r>
              <a:rPr lang="en-US" i="0" dirty="0">
                <a:solidFill>
                  <a:schemeClr val="bg1">
                    <a:lumMod val="95000"/>
                    <a:lumOff val="5000"/>
                  </a:schemeClr>
                </a:solidFill>
                <a:effectLst/>
                <a:latin typeface="Söhne"/>
              </a:rPr>
              <a:t>Risk: Service Disruption</a:t>
            </a:r>
          </a:p>
          <a:p>
            <a:pPr marL="742950" lvl="1" indent="-285750" algn="l">
              <a:buFont typeface="Arial" panose="020B0604020202020204" pitchFamily="34" charset="0"/>
              <a:buChar char="•"/>
            </a:pPr>
            <a:r>
              <a:rPr lang="en-US" i="0" dirty="0">
                <a:solidFill>
                  <a:schemeClr val="bg1">
                    <a:lumMod val="95000"/>
                    <a:lumOff val="5000"/>
                  </a:schemeClr>
                </a:solidFill>
                <a:effectLst/>
                <a:latin typeface="Söhne"/>
              </a:rPr>
              <a:t>Threats: DDoS attacks, inadequate failover.</a:t>
            </a:r>
          </a:p>
          <a:p>
            <a:pPr marL="742950" lvl="1" indent="-285750" algn="l">
              <a:buFont typeface="Arial" panose="020B0604020202020204" pitchFamily="34" charset="0"/>
              <a:buChar char="•"/>
            </a:pPr>
            <a:r>
              <a:rPr lang="en-US" i="0" dirty="0">
                <a:solidFill>
                  <a:schemeClr val="bg1">
                    <a:lumMod val="95000"/>
                    <a:lumOff val="5000"/>
                  </a:schemeClr>
                </a:solidFill>
                <a:effectLst/>
                <a:latin typeface="Söhne"/>
              </a:rPr>
              <a:t>Impact: Downtime, financial losses, damage to reputation.</a:t>
            </a:r>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851888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78746-4B5E-7918-9CE1-D7B12EF9FD4E}"/>
              </a:ext>
            </a:extLst>
          </p:cNvPr>
          <p:cNvSpPr>
            <a:spLocks noGrp="1"/>
          </p:cNvSpPr>
          <p:nvPr>
            <p:ph type="title"/>
          </p:nvPr>
        </p:nvSpPr>
        <p:spPr/>
        <p:txBody>
          <a:bodyPr/>
          <a:lstStyle/>
          <a:p>
            <a:r>
              <a:rPr lang="en-US" dirty="0"/>
              <a:t>Impact on Operations &amp; Modern Workplace</a:t>
            </a:r>
          </a:p>
        </p:txBody>
      </p:sp>
      <p:sp>
        <p:nvSpPr>
          <p:cNvPr id="3" name="Content Placeholder 2">
            <a:extLst>
              <a:ext uri="{FF2B5EF4-FFF2-40B4-BE49-F238E27FC236}">
                <a16:creationId xmlns:a16="http://schemas.microsoft.com/office/drawing/2014/main" id="{7FE73C11-F126-B8B9-BDDA-8516BB2E776E}"/>
              </a:ext>
            </a:extLst>
          </p:cNvPr>
          <p:cNvSpPr>
            <a:spLocks noGrp="1"/>
          </p:cNvSpPr>
          <p:nvPr>
            <p:ph sz="quarter" idx="13"/>
          </p:nvPr>
        </p:nvSpPr>
        <p:spPr>
          <a:xfrm>
            <a:off x="3657600" y="2282007"/>
            <a:ext cx="7810500" cy="4473118"/>
          </a:xfrm>
        </p:spPr>
        <p:txBody>
          <a:bodyPr>
            <a:normAutofit fontScale="85000" lnSpcReduction="10000"/>
          </a:bodyPr>
          <a:lstStyle/>
          <a:p>
            <a:pPr marL="0" indent="0" algn="l">
              <a:spcBef>
                <a:spcPts val="600"/>
              </a:spcBef>
              <a:buNone/>
            </a:pPr>
            <a:r>
              <a:rPr lang="en-US" b="1" i="0" dirty="0">
                <a:solidFill>
                  <a:schemeClr val="accent1">
                    <a:lumMod val="75000"/>
                  </a:schemeClr>
                </a:solidFill>
                <a:effectLst/>
                <a:latin typeface="Söhne"/>
              </a:rPr>
              <a:t>Potential Threats to Cloud Security:</a:t>
            </a:r>
            <a:endParaRPr lang="en-US" b="0" i="0" dirty="0">
              <a:solidFill>
                <a:schemeClr val="accent1">
                  <a:lumMod val="75000"/>
                </a:schemeClr>
              </a:solidFill>
              <a:effectLst/>
              <a:latin typeface="Söhne"/>
            </a:endParaRPr>
          </a:p>
          <a:p>
            <a:pPr marL="457200" lvl="1" indent="0" algn="l">
              <a:spcBef>
                <a:spcPts val="600"/>
              </a:spcBef>
              <a:buNone/>
            </a:pPr>
            <a:r>
              <a:rPr lang="en-US" b="1" i="0" dirty="0">
                <a:solidFill>
                  <a:schemeClr val="bg1">
                    <a:lumMod val="95000"/>
                    <a:lumOff val="5000"/>
                  </a:schemeClr>
                </a:solidFill>
                <a:effectLst/>
                <a:latin typeface="Söhne"/>
              </a:rPr>
              <a:t>Threat:</a:t>
            </a:r>
            <a:r>
              <a:rPr lang="en-US" b="0" i="0" dirty="0">
                <a:solidFill>
                  <a:schemeClr val="bg1">
                    <a:lumMod val="95000"/>
                    <a:lumOff val="5000"/>
                  </a:schemeClr>
                </a:solidFill>
                <a:effectLst/>
                <a:latin typeface="Söhne"/>
              </a:rPr>
              <a:t> Unauthorized Access</a:t>
            </a:r>
          </a:p>
          <a:p>
            <a:pPr marL="1143000" lvl="2" indent="-228600" algn="l">
              <a:spcBef>
                <a:spcPts val="600"/>
              </a:spcBef>
              <a:buFont typeface="+mj-lt"/>
              <a:buAutoNum type="arabicPeriod" startAt="2"/>
            </a:pPr>
            <a:r>
              <a:rPr lang="en-US" b="1" i="0" dirty="0">
                <a:solidFill>
                  <a:schemeClr val="bg1">
                    <a:lumMod val="95000"/>
                    <a:lumOff val="5000"/>
                  </a:schemeClr>
                </a:solidFill>
                <a:effectLst/>
                <a:latin typeface="Söhne"/>
              </a:rPr>
              <a:t>Potential Threats:</a:t>
            </a:r>
            <a:r>
              <a:rPr lang="en-US" b="0" i="0" dirty="0">
                <a:solidFill>
                  <a:schemeClr val="bg1">
                    <a:lumMod val="95000"/>
                    <a:lumOff val="5000"/>
                  </a:schemeClr>
                </a:solidFill>
                <a:effectLst/>
                <a:latin typeface="Söhne"/>
              </a:rPr>
              <a:t> Weak authentication, inadequate access controls.</a:t>
            </a:r>
          </a:p>
          <a:p>
            <a:pPr marL="1143000" lvl="2" indent="-228600" algn="l">
              <a:spcBef>
                <a:spcPts val="600"/>
              </a:spcBef>
              <a:buFont typeface="+mj-lt"/>
              <a:buAutoNum type="arabicPeriod" startAt="2"/>
            </a:pPr>
            <a:r>
              <a:rPr lang="en-US" b="1" i="0" dirty="0">
                <a:solidFill>
                  <a:schemeClr val="bg1">
                    <a:lumMod val="95000"/>
                    <a:lumOff val="5000"/>
                  </a:schemeClr>
                </a:solidFill>
                <a:effectLst/>
                <a:latin typeface="Söhne"/>
              </a:rPr>
              <a:t>Impact:</a:t>
            </a:r>
            <a:r>
              <a:rPr lang="en-US" b="0" i="0" dirty="0">
                <a:solidFill>
                  <a:schemeClr val="bg1">
                    <a:lumMod val="95000"/>
                    <a:lumOff val="5000"/>
                  </a:schemeClr>
                </a:solidFill>
                <a:effectLst/>
                <a:latin typeface="Söhne"/>
              </a:rPr>
              <a:t> Unauthorized access, data manipulation, compromised accounts.</a:t>
            </a:r>
          </a:p>
          <a:p>
            <a:pPr marL="457200" lvl="1" indent="0" algn="l">
              <a:spcBef>
                <a:spcPts val="600"/>
              </a:spcBef>
              <a:buNone/>
            </a:pPr>
            <a:r>
              <a:rPr lang="en-US" b="1" i="0" dirty="0">
                <a:solidFill>
                  <a:schemeClr val="bg1">
                    <a:lumMod val="95000"/>
                    <a:lumOff val="5000"/>
                  </a:schemeClr>
                </a:solidFill>
                <a:effectLst/>
                <a:latin typeface="Söhne"/>
              </a:rPr>
              <a:t>Threat:</a:t>
            </a:r>
            <a:r>
              <a:rPr lang="en-US" b="0" i="0" dirty="0">
                <a:solidFill>
                  <a:schemeClr val="bg1">
                    <a:lumMod val="95000"/>
                    <a:lumOff val="5000"/>
                  </a:schemeClr>
                </a:solidFill>
                <a:effectLst/>
                <a:latin typeface="Söhne"/>
              </a:rPr>
              <a:t> Data Breach</a:t>
            </a:r>
          </a:p>
          <a:p>
            <a:pPr marL="1143000" lvl="2" indent="-228600" algn="l">
              <a:spcBef>
                <a:spcPts val="600"/>
              </a:spcBef>
              <a:buFont typeface="+mj-lt"/>
              <a:buAutoNum type="arabicPeriod" startAt="2"/>
            </a:pPr>
            <a:r>
              <a:rPr lang="en-US" b="1" i="0" dirty="0">
                <a:solidFill>
                  <a:schemeClr val="bg1">
                    <a:lumMod val="95000"/>
                    <a:lumOff val="5000"/>
                  </a:schemeClr>
                </a:solidFill>
                <a:effectLst/>
                <a:latin typeface="Söhne"/>
              </a:rPr>
              <a:t>Potential Threats:</a:t>
            </a:r>
            <a:r>
              <a:rPr lang="en-US" b="0" i="0" dirty="0">
                <a:solidFill>
                  <a:schemeClr val="bg1">
                    <a:lumMod val="95000"/>
                    <a:lumOff val="5000"/>
                  </a:schemeClr>
                </a:solidFill>
                <a:effectLst/>
                <a:latin typeface="Söhne"/>
              </a:rPr>
              <a:t> Insufficient encryption, lack of monitoring.</a:t>
            </a:r>
          </a:p>
          <a:p>
            <a:pPr marL="1143000" lvl="2" indent="-228600" algn="l">
              <a:spcBef>
                <a:spcPts val="600"/>
              </a:spcBef>
              <a:buFont typeface="+mj-lt"/>
              <a:buAutoNum type="arabicPeriod" startAt="2"/>
            </a:pPr>
            <a:r>
              <a:rPr lang="en-US" b="1" i="0" dirty="0">
                <a:solidFill>
                  <a:schemeClr val="bg1">
                    <a:lumMod val="95000"/>
                    <a:lumOff val="5000"/>
                  </a:schemeClr>
                </a:solidFill>
                <a:effectLst/>
                <a:latin typeface="Söhne"/>
              </a:rPr>
              <a:t>Impact:</a:t>
            </a:r>
            <a:r>
              <a:rPr lang="en-US" b="0" i="0" dirty="0">
                <a:solidFill>
                  <a:schemeClr val="bg1">
                    <a:lumMod val="95000"/>
                    <a:lumOff val="5000"/>
                  </a:schemeClr>
                </a:solidFill>
                <a:effectLst/>
                <a:latin typeface="Söhne"/>
              </a:rPr>
              <a:t> Loss of sensitive information, legal ramifications.</a:t>
            </a:r>
          </a:p>
          <a:p>
            <a:pPr marL="0" indent="0" algn="l">
              <a:spcBef>
                <a:spcPts val="600"/>
              </a:spcBef>
              <a:buNone/>
            </a:pPr>
            <a:r>
              <a:rPr lang="en-US" b="1" i="0" dirty="0">
                <a:solidFill>
                  <a:schemeClr val="accent1">
                    <a:lumMod val="75000"/>
                  </a:schemeClr>
                </a:solidFill>
                <a:effectLst/>
                <a:latin typeface="Söhne"/>
              </a:rPr>
              <a:t>Impact on Modern Workplace Practices:</a:t>
            </a:r>
            <a:endParaRPr lang="en-US" b="0" i="0" dirty="0">
              <a:solidFill>
                <a:schemeClr val="accent1">
                  <a:lumMod val="75000"/>
                </a:schemeClr>
              </a:solidFill>
              <a:effectLst/>
              <a:latin typeface="Söhne"/>
            </a:endParaRPr>
          </a:p>
          <a:p>
            <a:pPr marL="457200" lvl="1" indent="0" algn="l">
              <a:spcBef>
                <a:spcPts val="600"/>
              </a:spcBef>
              <a:buNone/>
            </a:pPr>
            <a:r>
              <a:rPr lang="en-US" b="1" i="0" dirty="0">
                <a:solidFill>
                  <a:schemeClr val="bg1">
                    <a:lumMod val="95000"/>
                    <a:lumOff val="5000"/>
                  </a:schemeClr>
                </a:solidFill>
                <a:effectLst/>
                <a:latin typeface="Söhne"/>
              </a:rPr>
              <a:t>Impact:</a:t>
            </a:r>
            <a:r>
              <a:rPr lang="en-US" b="0" i="0" dirty="0">
                <a:solidFill>
                  <a:schemeClr val="bg1">
                    <a:lumMod val="95000"/>
                    <a:lumOff val="5000"/>
                  </a:schemeClr>
                </a:solidFill>
                <a:effectLst/>
                <a:latin typeface="Söhne"/>
              </a:rPr>
              <a:t> Disruption to Remote Work Arrangements</a:t>
            </a:r>
          </a:p>
          <a:p>
            <a:pPr marL="1143000" lvl="2" indent="-228600" algn="l">
              <a:spcBef>
                <a:spcPts val="600"/>
              </a:spcBef>
              <a:buFont typeface="+mj-lt"/>
              <a:buAutoNum type="arabicPeriod" startAt="2"/>
            </a:pPr>
            <a:r>
              <a:rPr lang="en-US" b="1" i="0" dirty="0">
                <a:solidFill>
                  <a:schemeClr val="bg1">
                    <a:lumMod val="95000"/>
                    <a:lumOff val="5000"/>
                  </a:schemeClr>
                </a:solidFill>
                <a:effectLst/>
                <a:latin typeface="Söhne"/>
              </a:rPr>
              <a:t>Potential Impact:</a:t>
            </a:r>
            <a:r>
              <a:rPr lang="en-US" b="0" i="0" dirty="0">
                <a:solidFill>
                  <a:schemeClr val="bg1">
                    <a:lumMod val="95000"/>
                    <a:lumOff val="5000"/>
                  </a:schemeClr>
                </a:solidFill>
                <a:effectLst/>
                <a:latin typeface="Söhne"/>
              </a:rPr>
              <a:t> Unsecured remote access, compromised VDI.</a:t>
            </a:r>
          </a:p>
          <a:p>
            <a:pPr marL="1143000" lvl="2" indent="-228600" algn="l">
              <a:spcBef>
                <a:spcPts val="600"/>
              </a:spcBef>
              <a:buFont typeface="+mj-lt"/>
              <a:buAutoNum type="arabicPeriod" startAt="2"/>
            </a:pPr>
            <a:r>
              <a:rPr lang="en-US" b="1" i="0" dirty="0">
                <a:solidFill>
                  <a:schemeClr val="bg1">
                    <a:lumMod val="95000"/>
                    <a:lumOff val="5000"/>
                  </a:schemeClr>
                </a:solidFill>
                <a:effectLst/>
                <a:latin typeface="Söhne"/>
              </a:rPr>
              <a:t>Consequences:</a:t>
            </a:r>
            <a:r>
              <a:rPr lang="en-US" b="0" i="0" dirty="0">
                <a:solidFill>
                  <a:schemeClr val="bg1">
                    <a:lumMod val="95000"/>
                    <a:lumOff val="5000"/>
                  </a:schemeClr>
                </a:solidFill>
                <a:effectLst/>
                <a:latin typeface="Söhne"/>
              </a:rPr>
              <a:t> Insecure connections, challenges for remote workers.</a:t>
            </a:r>
          </a:p>
          <a:p>
            <a:pPr marL="457200" lvl="1" indent="0" algn="l">
              <a:spcBef>
                <a:spcPts val="600"/>
              </a:spcBef>
              <a:buNone/>
            </a:pPr>
            <a:r>
              <a:rPr lang="en-US" b="1" i="0" dirty="0">
                <a:solidFill>
                  <a:schemeClr val="bg1">
                    <a:lumMod val="95000"/>
                    <a:lumOff val="5000"/>
                  </a:schemeClr>
                </a:solidFill>
                <a:effectLst/>
                <a:latin typeface="Söhne"/>
              </a:rPr>
              <a:t>Impact:</a:t>
            </a:r>
            <a:r>
              <a:rPr lang="en-US" b="0" i="0" dirty="0">
                <a:solidFill>
                  <a:schemeClr val="bg1">
                    <a:lumMod val="95000"/>
                    <a:lumOff val="5000"/>
                  </a:schemeClr>
                </a:solidFill>
                <a:effectLst/>
                <a:latin typeface="Söhne"/>
              </a:rPr>
              <a:t> Compromised Business Continuity</a:t>
            </a:r>
          </a:p>
          <a:p>
            <a:pPr marL="1143000" lvl="2" indent="-228600" algn="l">
              <a:spcBef>
                <a:spcPts val="600"/>
              </a:spcBef>
              <a:buFont typeface="+mj-lt"/>
              <a:buAutoNum type="arabicPeriod" startAt="2"/>
            </a:pPr>
            <a:r>
              <a:rPr lang="en-US" b="1" i="0" dirty="0">
                <a:solidFill>
                  <a:schemeClr val="bg1">
                    <a:lumMod val="95000"/>
                    <a:lumOff val="5000"/>
                  </a:schemeClr>
                </a:solidFill>
                <a:effectLst/>
                <a:latin typeface="Söhne"/>
              </a:rPr>
              <a:t>Potential Impact:</a:t>
            </a:r>
            <a:r>
              <a:rPr lang="en-US" b="0" i="0" dirty="0">
                <a:solidFill>
                  <a:schemeClr val="bg1">
                    <a:lumMod val="95000"/>
                    <a:lumOff val="5000"/>
                  </a:schemeClr>
                </a:solidFill>
                <a:effectLst/>
                <a:latin typeface="Söhne"/>
              </a:rPr>
              <a:t> Inadequate disaster recovery.</a:t>
            </a:r>
          </a:p>
          <a:p>
            <a:pPr marL="1143000" lvl="2" indent="-228600" algn="l">
              <a:spcBef>
                <a:spcPts val="600"/>
              </a:spcBef>
              <a:buFont typeface="+mj-lt"/>
              <a:buAutoNum type="arabicPeriod" startAt="2"/>
            </a:pPr>
            <a:r>
              <a:rPr lang="en-US" b="1" i="0" dirty="0">
                <a:solidFill>
                  <a:schemeClr val="bg1">
                    <a:lumMod val="95000"/>
                    <a:lumOff val="5000"/>
                  </a:schemeClr>
                </a:solidFill>
                <a:effectLst/>
                <a:latin typeface="Söhne"/>
              </a:rPr>
              <a:t>Consequences:</a:t>
            </a:r>
            <a:r>
              <a:rPr lang="en-US" b="0" i="0" dirty="0">
                <a:solidFill>
                  <a:schemeClr val="bg1">
                    <a:lumMod val="95000"/>
                    <a:lumOff val="5000"/>
                  </a:schemeClr>
                </a:solidFill>
                <a:effectLst/>
                <a:latin typeface="Söhne"/>
              </a:rPr>
              <a:t> Disrupted workflows, extended downtime.</a:t>
            </a:r>
          </a:p>
          <a:p>
            <a:endParaRPr lang="en-US" dirty="0">
              <a:solidFill>
                <a:schemeClr val="bg1">
                  <a:lumMod val="95000"/>
                  <a:lumOff val="5000"/>
                </a:schemeClr>
              </a:solidFill>
            </a:endParaRPr>
          </a:p>
        </p:txBody>
      </p:sp>
    </p:spTree>
    <p:extLst>
      <p:ext uri="{BB962C8B-B14F-4D97-AF65-F5344CB8AC3E}">
        <p14:creationId xmlns:p14="http://schemas.microsoft.com/office/powerpoint/2010/main" val="2994307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78746-4B5E-7918-9CE1-D7B12EF9FD4E}"/>
              </a:ext>
            </a:extLst>
          </p:cNvPr>
          <p:cNvSpPr>
            <a:spLocks noGrp="1"/>
          </p:cNvSpPr>
          <p:nvPr>
            <p:ph type="title"/>
          </p:nvPr>
        </p:nvSpPr>
        <p:spPr/>
        <p:txBody>
          <a:bodyPr/>
          <a:lstStyle/>
          <a:p>
            <a:r>
              <a:rPr lang="en-US" dirty="0"/>
              <a:t>Risk Associated With Each Assets</a:t>
            </a:r>
          </a:p>
        </p:txBody>
      </p:sp>
      <p:sp>
        <p:nvSpPr>
          <p:cNvPr id="3" name="Content Placeholder 2">
            <a:extLst>
              <a:ext uri="{FF2B5EF4-FFF2-40B4-BE49-F238E27FC236}">
                <a16:creationId xmlns:a16="http://schemas.microsoft.com/office/drawing/2014/main" id="{7FE73C11-F126-B8B9-BDDA-8516BB2E776E}"/>
              </a:ext>
            </a:extLst>
          </p:cNvPr>
          <p:cNvSpPr>
            <a:spLocks noGrp="1"/>
          </p:cNvSpPr>
          <p:nvPr>
            <p:ph sz="quarter" idx="13"/>
          </p:nvPr>
        </p:nvSpPr>
        <p:spPr>
          <a:xfrm>
            <a:off x="3657600" y="2282007"/>
            <a:ext cx="7810500" cy="4473118"/>
          </a:xfrm>
        </p:spPr>
        <p:txBody>
          <a:bodyPr>
            <a:normAutofit fontScale="55000" lnSpcReduction="20000"/>
          </a:bodyPr>
          <a:lstStyle/>
          <a:p>
            <a:pPr algn="l">
              <a:spcBef>
                <a:spcPts val="600"/>
              </a:spcBef>
              <a:buFont typeface="+mj-lt"/>
              <a:buAutoNum type="arabicPeriod"/>
            </a:pPr>
            <a:r>
              <a:rPr lang="en-US" b="1" i="0" dirty="0" err="1">
                <a:effectLst/>
                <a:latin typeface="Söhne"/>
              </a:rPr>
              <a:t>AssetID</a:t>
            </a:r>
            <a:r>
              <a:rPr lang="en-US" b="1" i="0" dirty="0">
                <a:effectLst/>
                <a:latin typeface="Söhne"/>
              </a:rPr>
              <a:t> A1 (Elastic Web Servers):</a:t>
            </a:r>
            <a:endParaRPr lang="en-US" b="0" i="0" dirty="0">
              <a:effectLst/>
              <a:latin typeface="Söhne"/>
            </a:endParaRPr>
          </a:p>
          <a:p>
            <a:pPr marL="742950" lvl="1" indent="-285750" algn="l">
              <a:spcBef>
                <a:spcPts val="600"/>
              </a:spcBef>
              <a:buFont typeface="+mj-lt"/>
              <a:buAutoNum type="arabicPeriod"/>
            </a:pPr>
            <a:r>
              <a:rPr lang="en-US" b="0" i="1" dirty="0">
                <a:effectLst/>
                <a:latin typeface="Söhne"/>
              </a:rPr>
              <a:t>Risk:</a:t>
            </a:r>
            <a:r>
              <a:rPr lang="en-US" b="0" i="0" dirty="0">
                <a:effectLst/>
                <a:latin typeface="Söhne"/>
              </a:rPr>
              <a:t> Unauthorized access and exploitation occur through weak server security, allowing attackers to breach web servers.</a:t>
            </a:r>
          </a:p>
          <a:p>
            <a:pPr marL="742950" lvl="1" indent="-285750" algn="l">
              <a:spcBef>
                <a:spcPts val="600"/>
              </a:spcBef>
              <a:buFont typeface="+mj-lt"/>
              <a:buAutoNum type="arabicPeriod"/>
            </a:pPr>
            <a:r>
              <a:rPr lang="en-US" b="0" i="1" dirty="0">
                <a:effectLst/>
                <a:latin typeface="Söhne"/>
              </a:rPr>
              <a:t>Impact:</a:t>
            </a:r>
            <a:r>
              <a:rPr lang="en-US" b="0" i="0" dirty="0">
                <a:effectLst/>
                <a:latin typeface="Söhne"/>
              </a:rPr>
              <a:t> This can lead to the compromise of external websites, loss of trust, legal consequences, and disruptions in business operations.</a:t>
            </a:r>
          </a:p>
          <a:p>
            <a:pPr algn="l">
              <a:spcBef>
                <a:spcPts val="600"/>
              </a:spcBef>
              <a:buFont typeface="+mj-lt"/>
              <a:buAutoNum type="arabicPeriod"/>
            </a:pPr>
            <a:r>
              <a:rPr lang="en-US" b="1" i="0" dirty="0" err="1">
                <a:effectLst/>
                <a:latin typeface="Söhne"/>
              </a:rPr>
              <a:t>AssetID</a:t>
            </a:r>
            <a:r>
              <a:rPr lang="en-US" b="1" i="0" dirty="0">
                <a:effectLst/>
                <a:latin typeface="Söhne"/>
              </a:rPr>
              <a:t> A2 (Enterprise Application Servers):</a:t>
            </a:r>
            <a:endParaRPr lang="en-US" b="0" i="0" dirty="0">
              <a:effectLst/>
              <a:latin typeface="Söhne"/>
            </a:endParaRPr>
          </a:p>
          <a:p>
            <a:pPr marL="742950" lvl="1" indent="-285750" algn="l">
              <a:spcBef>
                <a:spcPts val="600"/>
              </a:spcBef>
              <a:buFont typeface="+mj-lt"/>
              <a:buAutoNum type="arabicPeriod"/>
            </a:pPr>
            <a:r>
              <a:rPr lang="en-US" b="0" i="1" dirty="0">
                <a:effectLst/>
                <a:latin typeface="Söhne"/>
              </a:rPr>
              <a:t>Risk:</a:t>
            </a:r>
            <a:r>
              <a:rPr lang="en-US" b="0" i="0" dirty="0">
                <a:effectLst/>
                <a:latin typeface="Söhne"/>
              </a:rPr>
              <a:t> Threats to Apache </a:t>
            </a:r>
            <a:r>
              <a:rPr lang="en-US" b="0" i="0" dirty="0" err="1">
                <a:effectLst/>
                <a:latin typeface="Söhne"/>
              </a:rPr>
              <a:t>OfBiz</a:t>
            </a:r>
            <a:r>
              <a:rPr lang="en-US" b="0" i="0" dirty="0">
                <a:effectLst/>
                <a:latin typeface="Söhne"/>
              </a:rPr>
              <a:t> and network vulnerabilities can result from inadequate configuration and monitoring.</a:t>
            </a:r>
          </a:p>
          <a:p>
            <a:pPr marL="742950" lvl="1" indent="-285750" algn="l">
              <a:spcBef>
                <a:spcPts val="600"/>
              </a:spcBef>
              <a:buFont typeface="+mj-lt"/>
              <a:buAutoNum type="arabicPeriod"/>
            </a:pPr>
            <a:r>
              <a:rPr lang="en-US" b="0" i="1" dirty="0">
                <a:effectLst/>
                <a:latin typeface="Söhne"/>
              </a:rPr>
              <a:t>Impact:</a:t>
            </a:r>
            <a:r>
              <a:rPr lang="en-US" b="0" i="0" dirty="0">
                <a:effectLst/>
                <a:latin typeface="Söhne"/>
              </a:rPr>
              <a:t> Exploitation of </a:t>
            </a:r>
            <a:r>
              <a:rPr lang="en-US" b="0" i="0" dirty="0" err="1">
                <a:effectLst/>
                <a:latin typeface="Söhne"/>
              </a:rPr>
              <a:t>OfBiz</a:t>
            </a:r>
            <a:r>
              <a:rPr lang="en-US" b="0" i="0" dirty="0">
                <a:effectLst/>
                <a:latin typeface="Söhne"/>
              </a:rPr>
              <a:t> may compromise ERP systems, causing business disruptions, financial losses, and potential damage to critical processes.</a:t>
            </a:r>
          </a:p>
          <a:p>
            <a:pPr algn="l">
              <a:spcBef>
                <a:spcPts val="600"/>
              </a:spcBef>
              <a:buFont typeface="+mj-lt"/>
              <a:buAutoNum type="arabicPeriod"/>
            </a:pPr>
            <a:r>
              <a:rPr lang="en-US" b="1" i="0" dirty="0" err="1">
                <a:effectLst/>
                <a:latin typeface="Söhne"/>
              </a:rPr>
              <a:t>AssetID</a:t>
            </a:r>
            <a:r>
              <a:rPr lang="en-US" b="1" i="0" dirty="0">
                <a:effectLst/>
                <a:latin typeface="Söhne"/>
              </a:rPr>
              <a:t> A3 (Virtual Desktop Infrastructure):</a:t>
            </a:r>
            <a:endParaRPr lang="en-US" b="0" i="0" dirty="0">
              <a:effectLst/>
              <a:latin typeface="Söhne"/>
            </a:endParaRPr>
          </a:p>
          <a:p>
            <a:pPr marL="742950" lvl="1" indent="-285750" algn="l">
              <a:spcBef>
                <a:spcPts val="600"/>
              </a:spcBef>
              <a:buFont typeface="+mj-lt"/>
              <a:buAutoNum type="arabicPeriod"/>
            </a:pPr>
            <a:r>
              <a:rPr lang="en-US" b="0" i="1" dirty="0">
                <a:effectLst/>
                <a:latin typeface="Söhne"/>
              </a:rPr>
              <a:t>Risk:</a:t>
            </a:r>
            <a:r>
              <a:rPr lang="en-US" b="0" i="0" dirty="0">
                <a:effectLst/>
                <a:latin typeface="Söhne"/>
              </a:rPr>
              <a:t> Security risks with virtual desktop instances and identity theft stem from weak authentication mechanisms.</a:t>
            </a:r>
          </a:p>
          <a:p>
            <a:pPr marL="742950" lvl="1" indent="-285750" algn="l">
              <a:spcBef>
                <a:spcPts val="600"/>
              </a:spcBef>
              <a:buFont typeface="+mj-lt"/>
              <a:buAutoNum type="arabicPeriod"/>
            </a:pPr>
            <a:r>
              <a:rPr lang="en-US" b="0" i="1" dirty="0">
                <a:effectLst/>
                <a:latin typeface="Söhne"/>
              </a:rPr>
              <a:t>Impact:</a:t>
            </a:r>
            <a:r>
              <a:rPr lang="en-US" b="0" i="0" dirty="0">
                <a:effectLst/>
                <a:latin typeface="Söhne"/>
              </a:rPr>
              <a:t> Compromised VDI instances may disrupt remote work arrangements, leading to potential loss of sensitive information and identity theft.</a:t>
            </a:r>
          </a:p>
          <a:p>
            <a:pPr algn="l">
              <a:spcBef>
                <a:spcPts val="600"/>
              </a:spcBef>
              <a:buFont typeface="+mj-lt"/>
              <a:buAutoNum type="arabicPeriod"/>
            </a:pPr>
            <a:r>
              <a:rPr lang="en-US" b="1" i="0" dirty="0" err="1">
                <a:effectLst/>
                <a:latin typeface="Söhne"/>
              </a:rPr>
              <a:t>AssetID</a:t>
            </a:r>
            <a:r>
              <a:rPr lang="en-US" b="1" i="0" dirty="0">
                <a:effectLst/>
                <a:latin typeface="Söhne"/>
              </a:rPr>
              <a:t> A4 (Document Database):</a:t>
            </a:r>
            <a:endParaRPr lang="en-US" b="0" i="0" dirty="0">
              <a:effectLst/>
              <a:latin typeface="Söhne"/>
            </a:endParaRPr>
          </a:p>
          <a:p>
            <a:pPr marL="742950" lvl="1" indent="-285750" algn="l">
              <a:spcBef>
                <a:spcPts val="600"/>
              </a:spcBef>
              <a:buFont typeface="+mj-lt"/>
              <a:buAutoNum type="arabicPeriod"/>
            </a:pPr>
            <a:r>
              <a:rPr lang="en-US" b="0" i="1" dirty="0">
                <a:effectLst/>
                <a:latin typeface="Söhne"/>
              </a:rPr>
              <a:t>Risk:</a:t>
            </a:r>
            <a:r>
              <a:rPr lang="en-US" b="0" i="0" dirty="0">
                <a:effectLst/>
                <a:latin typeface="Söhne"/>
              </a:rPr>
              <a:t> Unauthorized access and lack of encryption occur due to inadequate security measures for the document database.</a:t>
            </a:r>
          </a:p>
          <a:p>
            <a:pPr marL="742950" lvl="1" indent="-285750" algn="l">
              <a:spcBef>
                <a:spcPts val="600"/>
              </a:spcBef>
              <a:buFont typeface="+mj-lt"/>
              <a:buAutoNum type="arabicPeriod"/>
            </a:pPr>
            <a:r>
              <a:rPr lang="en-US" b="0" i="1" dirty="0">
                <a:effectLst/>
                <a:latin typeface="Söhne"/>
              </a:rPr>
              <a:t>Impact:</a:t>
            </a:r>
            <a:r>
              <a:rPr lang="en-US" b="0" i="0" dirty="0">
                <a:effectLst/>
                <a:latin typeface="Söhne"/>
              </a:rPr>
              <a:t> This can result in a data breach, loss of confidential information, legal consequences, and disruptions to business operations.</a:t>
            </a:r>
          </a:p>
          <a:p>
            <a:pPr algn="l">
              <a:spcBef>
                <a:spcPts val="600"/>
              </a:spcBef>
              <a:buFont typeface="+mj-lt"/>
              <a:buAutoNum type="arabicPeriod"/>
            </a:pPr>
            <a:r>
              <a:rPr lang="en-US" b="1" i="0" dirty="0" err="1">
                <a:effectLst/>
                <a:latin typeface="Söhne"/>
              </a:rPr>
              <a:t>AssetID</a:t>
            </a:r>
            <a:r>
              <a:rPr lang="en-US" b="1" i="0" dirty="0">
                <a:effectLst/>
                <a:latin typeface="Söhne"/>
              </a:rPr>
              <a:t> A5 (IAM and Access Controls):</a:t>
            </a:r>
            <a:endParaRPr lang="en-US" b="0" i="0" dirty="0">
              <a:effectLst/>
              <a:latin typeface="Söhne"/>
            </a:endParaRPr>
          </a:p>
          <a:p>
            <a:pPr marL="742950" lvl="1" indent="-285750" algn="l">
              <a:spcBef>
                <a:spcPts val="600"/>
              </a:spcBef>
              <a:buFont typeface="+mj-lt"/>
              <a:buAutoNum type="arabicPeriod"/>
            </a:pPr>
            <a:r>
              <a:rPr lang="en-US" b="0" i="1" dirty="0">
                <a:effectLst/>
                <a:latin typeface="Söhne"/>
              </a:rPr>
              <a:t>Risk:</a:t>
            </a:r>
            <a:r>
              <a:rPr lang="en-US" b="0" i="0" dirty="0">
                <a:effectLst/>
                <a:latin typeface="Söhne"/>
              </a:rPr>
              <a:t> Weak IAM policies and identity theft threats arise from improper management of access controls.</a:t>
            </a:r>
          </a:p>
          <a:p>
            <a:pPr marL="742950" lvl="1" indent="-285750" algn="l">
              <a:spcBef>
                <a:spcPts val="600"/>
              </a:spcBef>
              <a:buFont typeface="+mj-lt"/>
              <a:buAutoNum type="arabicPeriod"/>
            </a:pPr>
            <a:r>
              <a:rPr lang="en-US" b="0" i="1" dirty="0">
                <a:effectLst/>
                <a:latin typeface="Söhne"/>
              </a:rPr>
              <a:t>Impact:</a:t>
            </a:r>
            <a:r>
              <a:rPr lang="en-US" b="0" i="0" dirty="0">
                <a:effectLst/>
                <a:latin typeface="Söhne"/>
              </a:rPr>
              <a:t> Compromised user accounts, ineffective incident response, and disruptions in business operations can occur.</a:t>
            </a:r>
          </a:p>
          <a:p>
            <a:pPr>
              <a:spcBef>
                <a:spcPts val="600"/>
              </a:spcBef>
            </a:pPr>
            <a:endParaRPr lang="en-US" dirty="0"/>
          </a:p>
        </p:txBody>
      </p:sp>
    </p:spTree>
    <p:extLst>
      <p:ext uri="{BB962C8B-B14F-4D97-AF65-F5344CB8AC3E}">
        <p14:creationId xmlns:p14="http://schemas.microsoft.com/office/powerpoint/2010/main" val="3235169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C8726-30CC-C379-7E3E-553D06F4CFE1}"/>
              </a:ext>
            </a:extLst>
          </p:cNvPr>
          <p:cNvSpPr>
            <a:spLocks noGrp="1"/>
          </p:cNvSpPr>
          <p:nvPr>
            <p:ph type="title"/>
          </p:nvPr>
        </p:nvSpPr>
        <p:spPr/>
        <p:txBody>
          <a:bodyPr/>
          <a:lstStyle/>
          <a:p>
            <a:r>
              <a:rPr lang="en-US" dirty="0"/>
              <a:t>Risk Associated with Each Asset</a:t>
            </a:r>
          </a:p>
        </p:txBody>
      </p:sp>
      <p:sp>
        <p:nvSpPr>
          <p:cNvPr id="3" name="Content Placeholder 2">
            <a:extLst>
              <a:ext uri="{FF2B5EF4-FFF2-40B4-BE49-F238E27FC236}">
                <a16:creationId xmlns:a16="http://schemas.microsoft.com/office/drawing/2014/main" id="{975090E0-15D7-5CB1-DCC6-9D4C51D2B379}"/>
              </a:ext>
            </a:extLst>
          </p:cNvPr>
          <p:cNvSpPr>
            <a:spLocks noGrp="1"/>
          </p:cNvSpPr>
          <p:nvPr>
            <p:ph sz="quarter" idx="13"/>
          </p:nvPr>
        </p:nvSpPr>
        <p:spPr/>
        <p:txBody>
          <a:bodyPr>
            <a:normAutofit fontScale="47500" lnSpcReduction="20000"/>
          </a:bodyPr>
          <a:lstStyle/>
          <a:p>
            <a:pPr algn="l">
              <a:spcBef>
                <a:spcPts val="600"/>
              </a:spcBef>
              <a:buFont typeface="+mj-lt"/>
              <a:buAutoNum type="arabicPeriod"/>
            </a:pPr>
            <a:r>
              <a:rPr lang="en-US" b="1" i="0" dirty="0" err="1">
                <a:effectLst/>
                <a:latin typeface="Söhne"/>
              </a:rPr>
              <a:t>AssetID</a:t>
            </a:r>
            <a:r>
              <a:rPr lang="en-US" b="1" i="0" dirty="0">
                <a:effectLst/>
                <a:latin typeface="Söhne"/>
              </a:rPr>
              <a:t> A6 (VPC and Network Configuration):</a:t>
            </a:r>
            <a:endParaRPr lang="en-US" b="0" i="0" dirty="0">
              <a:effectLst/>
              <a:latin typeface="Söhne"/>
            </a:endParaRPr>
          </a:p>
          <a:p>
            <a:pPr marL="742950" lvl="1" indent="-285750" algn="l">
              <a:spcBef>
                <a:spcPts val="600"/>
              </a:spcBef>
              <a:buFont typeface="+mj-lt"/>
              <a:buAutoNum type="arabicPeriod"/>
            </a:pPr>
            <a:r>
              <a:rPr lang="en-US" b="0" i="1" dirty="0">
                <a:effectLst/>
                <a:latin typeface="Söhne"/>
              </a:rPr>
              <a:t>Risk:</a:t>
            </a:r>
            <a:r>
              <a:rPr lang="en-US" b="0" i="0" dirty="0">
                <a:effectLst/>
                <a:latin typeface="Söhne"/>
              </a:rPr>
              <a:t> Insecure VPC configuration and network breaches can happen due to inadequate security audits and configuration settings.</a:t>
            </a:r>
          </a:p>
          <a:p>
            <a:pPr marL="742950" lvl="1" indent="-285750" algn="l">
              <a:spcBef>
                <a:spcPts val="600"/>
              </a:spcBef>
              <a:buFont typeface="+mj-lt"/>
              <a:buAutoNum type="arabicPeriod"/>
            </a:pPr>
            <a:r>
              <a:rPr lang="en-US" b="0" i="1" dirty="0">
                <a:effectLst/>
                <a:latin typeface="Söhne"/>
              </a:rPr>
              <a:t>Impact:</a:t>
            </a:r>
            <a:r>
              <a:rPr lang="en-US" b="0" i="0" dirty="0">
                <a:effectLst/>
                <a:latin typeface="Söhne"/>
              </a:rPr>
              <a:t> Compromised sensitive information, unauthorized access, and risks associated with inadequate security audits may result.</a:t>
            </a:r>
          </a:p>
          <a:p>
            <a:pPr algn="l">
              <a:spcBef>
                <a:spcPts val="600"/>
              </a:spcBef>
              <a:buFont typeface="+mj-lt"/>
              <a:buAutoNum type="arabicPeriod"/>
            </a:pPr>
            <a:r>
              <a:rPr lang="en-US" b="1" i="0" dirty="0" err="1">
                <a:effectLst/>
                <a:latin typeface="Söhne"/>
              </a:rPr>
              <a:t>AssetID</a:t>
            </a:r>
            <a:r>
              <a:rPr lang="en-US" b="1" i="0" dirty="0">
                <a:effectLst/>
                <a:latin typeface="Söhne"/>
              </a:rPr>
              <a:t> A7 (Monitoring and Logging):</a:t>
            </a:r>
            <a:endParaRPr lang="en-US" b="0" i="0" dirty="0">
              <a:effectLst/>
              <a:latin typeface="Söhne"/>
            </a:endParaRPr>
          </a:p>
          <a:p>
            <a:pPr marL="742950" lvl="1" indent="-285750" algn="l">
              <a:spcBef>
                <a:spcPts val="600"/>
              </a:spcBef>
              <a:buFont typeface="+mj-lt"/>
              <a:buAutoNum type="arabicPeriod"/>
            </a:pPr>
            <a:r>
              <a:rPr lang="en-US" b="0" i="1" dirty="0">
                <a:effectLst/>
                <a:latin typeface="Söhne"/>
              </a:rPr>
              <a:t>Risk:</a:t>
            </a:r>
            <a:r>
              <a:rPr lang="en-US" b="0" i="0" dirty="0">
                <a:effectLst/>
                <a:latin typeface="Söhne"/>
              </a:rPr>
              <a:t> Insufficient monitoring and unauthorized access to web servers occur due to poor logging practices.</a:t>
            </a:r>
          </a:p>
          <a:p>
            <a:pPr marL="742950" lvl="1" indent="-285750" algn="l">
              <a:spcBef>
                <a:spcPts val="600"/>
              </a:spcBef>
              <a:buFont typeface="+mj-lt"/>
              <a:buAutoNum type="arabicPeriod"/>
            </a:pPr>
            <a:r>
              <a:rPr lang="en-US" b="0" i="1" dirty="0">
                <a:effectLst/>
                <a:latin typeface="Söhne"/>
              </a:rPr>
              <a:t>Impact:</a:t>
            </a:r>
            <a:r>
              <a:rPr lang="en-US" b="0" i="0" dirty="0">
                <a:effectLst/>
                <a:latin typeface="Söhne"/>
              </a:rPr>
              <a:t> Difficulty in detecting and responding to security incidents, leading to compromised incident response and potential disruptions.</a:t>
            </a:r>
          </a:p>
          <a:p>
            <a:pPr algn="l">
              <a:spcBef>
                <a:spcPts val="600"/>
              </a:spcBef>
              <a:buFont typeface="+mj-lt"/>
              <a:buAutoNum type="arabicPeriod"/>
            </a:pPr>
            <a:r>
              <a:rPr lang="en-US" b="1" i="0" dirty="0" err="1">
                <a:effectLst/>
                <a:latin typeface="Söhne"/>
              </a:rPr>
              <a:t>AssetID</a:t>
            </a:r>
            <a:r>
              <a:rPr lang="en-US" b="1" i="0" dirty="0">
                <a:effectLst/>
                <a:latin typeface="Söhne"/>
              </a:rPr>
              <a:t> A8 (Data Backup and Recovery):</a:t>
            </a:r>
            <a:endParaRPr lang="en-US" b="0" i="0" dirty="0">
              <a:effectLst/>
              <a:latin typeface="Söhne"/>
            </a:endParaRPr>
          </a:p>
          <a:p>
            <a:pPr marL="742950" lvl="1" indent="-285750" algn="l">
              <a:spcBef>
                <a:spcPts val="600"/>
              </a:spcBef>
              <a:buFont typeface="+mj-lt"/>
              <a:buAutoNum type="arabicPeriod"/>
            </a:pPr>
            <a:r>
              <a:rPr lang="en-US" b="0" i="1" dirty="0">
                <a:effectLst/>
                <a:latin typeface="Söhne"/>
              </a:rPr>
              <a:t>Risk:</a:t>
            </a:r>
            <a:r>
              <a:rPr lang="en-US" b="0" i="0" dirty="0">
                <a:effectLst/>
                <a:latin typeface="Söhne"/>
              </a:rPr>
              <a:t> Data loss and unauthorized access happen due to inadequate backup procedures and lack of encryption.</a:t>
            </a:r>
          </a:p>
          <a:p>
            <a:pPr marL="742950" lvl="1" indent="-285750" algn="l">
              <a:spcBef>
                <a:spcPts val="600"/>
              </a:spcBef>
              <a:buFont typeface="+mj-lt"/>
              <a:buAutoNum type="arabicPeriod"/>
            </a:pPr>
            <a:r>
              <a:rPr lang="en-US" b="0" i="1" dirty="0">
                <a:effectLst/>
                <a:latin typeface="Söhne"/>
              </a:rPr>
              <a:t>Impact:</a:t>
            </a:r>
            <a:r>
              <a:rPr lang="en-US" b="0" i="0" dirty="0">
                <a:effectLst/>
                <a:latin typeface="Söhne"/>
              </a:rPr>
              <a:t> Loss of critical data affecting business continuity, potential unauthorized access to the database, and risks associated with compromised document databases.</a:t>
            </a:r>
          </a:p>
          <a:p>
            <a:pPr algn="l">
              <a:spcBef>
                <a:spcPts val="600"/>
              </a:spcBef>
              <a:buFont typeface="+mj-lt"/>
              <a:buAutoNum type="arabicPeriod"/>
            </a:pPr>
            <a:r>
              <a:rPr lang="en-US" b="1" i="0" dirty="0" err="1">
                <a:effectLst/>
                <a:latin typeface="Söhne"/>
              </a:rPr>
              <a:t>AssetID</a:t>
            </a:r>
            <a:r>
              <a:rPr lang="en-US" b="1" i="0" dirty="0">
                <a:effectLst/>
                <a:latin typeface="Söhne"/>
              </a:rPr>
              <a:t> A9 (Incident Response Plan):</a:t>
            </a:r>
            <a:endParaRPr lang="en-US" b="0" i="0" dirty="0">
              <a:effectLst/>
              <a:latin typeface="Söhne"/>
            </a:endParaRPr>
          </a:p>
          <a:p>
            <a:pPr marL="742950" lvl="1" indent="-285750" algn="l">
              <a:spcBef>
                <a:spcPts val="600"/>
              </a:spcBef>
              <a:buFont typeface="+mj-lt"/>
              <a:buAutoNum type="arabicPeriod"/>
            </a:pPr>
            <a:r>
              <a:rPr lang="en-US" b="0" i="1" dirty="0">
                <a:effectLst/>
                <a:latin typeface="Söhne"/>
              </a:rPr>
              <a:t>Risk:</a:t>
            </a:r>
            <a:r>
              <a:rPr lang="en-US" b="0" i="0" dirty="0">
                <a:effectLst/>
                <a:latin typeface="Söhne"/>
              </a:rPr>
              <a:t> Ineffective handling of security incidents and incomplete incident response plans result from an underdeveloped response strategy.</a:t>
            </a:r>
          </a:p>
          <a:p>
            <a:pPr marL="742950" lvl="1" indent="-285750" algn="l">
              <a:spcBef>
                <a:spcPts val="600"/>
              </a:spcBef>
              <a:buFont typeface="+mj-lt"/>
              <a:buAutoNum type="arabicPeriod"/>
            </a:pPr>
            <a:r>
              <a:rPr lang="en-US" b="0" i="1" dirty="0">
                <a:effectLst/>
                <a:latin typeface="Söhne"/>
              </a:rPr>
              <a:t>Impact:</a:t>
            </a:r>
            <a:r>
              <a:rPr lang="en-US" b="0" i="0" dirty="0">
                <a:effectLst/>
                <a:latin typeface="Söhne"/>
              </a:rPr>
              <a:t> Challenges in responding to security incidents, increased risk of prolonged downtime, and potential disruptions to business operations.</a:t>
            </a:r>
          </a:p>
          <a:p>
            <a:pPr algn="l">
              <a:spcBef>
                <a:spcPts val="600"/>
              </a:spcBef>
              <a:buFont typeface="+mj-lt"/>
              <a:buAutoNum type="arabicPeriod"/>
            </a:pPr>
            <a:r>
              <a:rPr lang="en-US" b="1" i="0" dirty="0" err="1">
                <a:effectLst/>
                <a:latin typeface="Söhne"/>
              </a:rPr>
              <a:t>AssetID</a:t>
            </a:r>
            <a:r>
              <a:rPr lang="en-US" b="1" i="0" dirty="0">
                <a:effectLst/>
                <a:latin typeface="Söhne"/>
              </a:rPr>
              <a:t> A10 (Regular Security Audits):</a:t>
            </a:r>
            <a:endParaRPr lang="en-US" b="0" i="0" dirty="0">
              <a:effectLst/>
              <a:latin typeface="Söhne"/>
            </a:endParaRPr>
          </a:p>
          <a:p>
            <a:pPr marL="742950" lvl="1" indent="-285750" algn="l">
              <a:spcBef>
                <a:spcPts val="600"/>
              </a:spcBef>
              <a:buFont typeface="+mj-lt"/>
              <a:buAutoNum type="arabicPeriod"/>
            </a:pPr>
            <a:r>
              <a:rPr lang="en-US" b="0" i="1" dirty="0">
                <a:effectLst/>
                <a:latin typeface="Söhne"/>
              </a:rPr>
              <a:t>Risk:</a:t>
            </a:r>
            <a:r>
              <a:rPr lang="en-US" b="0" i="0" dirty="0">
                <a:effectLst/>
                <a:latin typeface="Söhne"/>
              </a:rPr>
              <a:t> Undetected vulnerabilities arise due to insufficient security audits and weak authentication mechanisms.</a:t>
            </a:r>
          </a:p>
          <a:p>
            <a:pPr marL="742950" lvl="1" indent="-285750" algn="l">
              <a:spcBef>
                <a:spcPts val="600"/>
              </a:spcBef>
              <a:buFont typeface="+mj-lt"/>
              <a:buAutoNum type="arabicPeriod"/>
            </a:pPr>
            <a:r>
              <a:rPr lang="en-US" b="0" i="1" dirty="0">
                <a:effectLst/>
                <a:latin typeface="Söhne"/>
              </a:rPr>
              <a:t>Impact:</a:t>
            </a:r>
            <a:r>
              <a:rPr lang="en-US" b="0" i="0" dirty="0">
                <a:effectLst/>
                <a:latin typeface="Söhne"/>
              </a:rPr>
              <a:t> Difficulty in identifying and addressing vulnerabilities, risks associated with insecure virtual desktop infrastructure, and potential compromises in security.</a:t>
            </a:r>
          </a:p>
          <a:p>
            <a:pPr>
              <a:spcBef>
                <a:spcPts val="600"/>
              </a:spcBef>
            </a:pPr>
            <a:endParaRPr lang="en-US" dirty="0"/>
          </a:p>
        </p:txBody>
      </p:sp>
    </p:spTree>
    <p:extLst>
      <p:ext uri="{BB962C8B-B14F-4D97-AF65-F5344CB8AC3E}">
        <p14:creationId xmlns:p14="http://schemas.microsoft.com/office/powerpoint/2010/main" val="93941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77584-16AB-CBFD-C1C7-BD0CE69E3602}"/>
              </a:ext>
            </a:extLst>
          </p:cNvPr>
          <p:cNvSpPr>
            <a:spLocks noGrp="1"/>
          </p:cNvSpPr>
          <p:nvPr>
            <p:ph type="title"/>
          </p:nvPr>
        </p:nvSpPr>
        <p:spPr/>
        <p:txBody>
          <a:bodyPr/>
          <a:lstStyle/>
          <a:p>
            <a:r>
              <a:rPr lang="en-US" dirty="0"/>
              <a:t>Impact Assessment of Identified Risks</a:t>
            </a:r>
          </a:p>
        </p:txBody>
      </p:sp>
      <p:graphicFrame>
        <p:nvGraphicFramePr>
          <p:cNvPr id="9" name="Content Placeholder 8">
            <a:extLst>
              <a:ext uri="{FF2B5EF4-FFF2-40B4-BE49-F238E27FC236}">
                <a16:creationId xmlns:a16="http://schemas.microsoft.com/office/drawing/2014/main" id="{96DCD112-D317-E83D-B85B-15AB2D653305}"/>
              </a:ext>
            </a:extLst>
          </p:cNvPr>
          <p:cNvGraphicFramePr>
            <a:graphicFrameLocks noGrp="1"/>
          </p:cNvGraphicFramePr>
          <p:nvPr>
            <p:ph sz="quarter" idx="13"/>
            <p:extLst>
              <p:ext uri="{D42A27DB-BD31-4B8C-83A1-F6EECF244321}">
                <p14:modId xmlns:p14="http://schemas.microsoft.com/office/powerpoint/2010/main" val="2437646812"/>
              </p:ext>
            </p:extLst>
          </p:nvPr>
        </p:nvGraphicFramePr>
        <p:xfrm>
          <a:off x="2902688" y="2323767"/>
          <a:ext cx="7123813" cy="4070516"/>
        </p:xfrm>
        <a:graphic>
          <a:graphicData uri="http://schemas.openxmlformats.org/drawingml/2006/table">
            <a:tbl>
              <a:tblPr/>
              <a:tblGrid>
                <a:gridCol w="1148317">
                  <a:extLst>
                    <a:ext uri="{9D8B030D-6E8A-4147-A177-3AD203B41FA5}">
                      <a16:colId xmlns:a16="http://schemas.microsoft.com/office/drawing/2014/main" val="865644860"/>
                    </a:ext>
                  </a:extLst>
                </a:gridCol>
                <a:gridCol w="2630458">
                  <a:extLst>
                    <a:ext uri="{9D8B030D-6E8A-4147-A177-3AD203B41FA5}">
                      <a16:colId xmlns:a16="http://schemas.microsoft.com/office/drawing/2014/main" val="4265459266"/>
                    </a:ext>
                  </a:extLst>
                </a:gridCol>
                <a:gridCol w="1420546">
                  <a:extLst>
                    <a:ext uri="{9D8B030D-6E8A-4147-A177-3AD203B41FA5}">
                      <a16:colId xmlns:a16="http://schemas.microsoft.com/office/drawing/2014/main" val="1326543572"/>
                    </a:ext>
                  </a:extLst>
                </a:gridCol>
                <a:gridCol w="765545">
                  <a:extLst>
                    <a:ext uri="{9D8B030D-6E8A-4147-A177-3AD203B41FA5}">
                      <a16:colId xmlns:a16="http://schemas.microsoft.com/office/drawing/2014/main" val="1166188593"/>
                    </a:ext>
                  </a:extLst>
                </a:gridCol>
                <a:gridCol w="1158947">
                  <a:extLst>
                    <a:ext uri="{9D8B030D-6E8A-4147-A177-3AD203B41FA5}">
                      <a16:colId xmlns:a16="http://schemas.microsoft.com/office/drawing/2014/main" val="1611315001"/>
                    </a:ext>
                  </a:extLst>
                </a:gridCol>
              </a:tblGrid>
              <a:tr h="243327">
                <a:tc>
                  <a:txBody>
                    <a:bodyPr/>
                    <a:lstStyle/>
                    <a:p>
                      <a:pPr rtl="0" fontAlgn="b"/>
                      <a:r>
                        <a:rPr lang="en-US" sz="1050" dirty="0">
                          <a:solidFill>
                            <a:schemeClr val="bg1"/>
                          </a:solidFill>
                          <a:effectLst/>
                        </a:rPr>
                        <a:t>Threat ID</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Threat</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Asset</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Likelihood (out of 10)</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Consequence Score (out of 10)</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547646526"/>
                  </a:ext>
                </a:extLst>
              </a:tr>
              <a:tr h="243327">
                <a:tc>
                  <a:txBody>
                    <a:bodyPr/>
                    <a:lstStyle/>
                    <a:p>
                      <a:pPr rtl="0" fontAlgn="b"/>
                      <a:r>
                        <a:rPr lang="en-US" sz="1050" dirty="0">
                          <a:solidFill>
                            <a:schemeClr val="bg1"/>
                          </a:solidFill>
                          <a:effectLst/>
                        </a:rPr>
                        <a:t>T1, T2</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Unauthorized access, Exploitation of vulnerabilities</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Elastic Web Servers</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a:solidFill>
                            <a:schemeClr val="bg1"/>
                          </a:solidFill>
                          <a:effectLst/>
                        </a:rPr>
                        <a:t>6</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a:solidFill>
                            <a:schemeClr val="bg1"/>
                          </a:solidFill>
                          <a:effectLst/>
                        </a:rPr>
                        <a:t>8.5</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834262307"/>
                  </a:ext>
                </a:extLst>
              </a:tr>
              <a:tr h="357090">
                <a:tc>
                  <a:txBody>
                    <a:bodyPr/>
                    <a:lstStyle/>
                    <a:p>
                      <a:pPr rtl="0" fontAlgn="b"/>
                      <a:r>
                        <a:rPr lang="en-US" sz="1050" dirty="0">
                          <a:solidFill>
                            <a:schemeClr val="bg1"/>
                          </a:solidFill>
                          <a:effectLst/>
                        </a:rPr>
                        <a:t>T2, T6</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dirty="0">
                          <a:solidFill>
                            <a:schemeClr val="bg1"/>
                          </a:solidFill>
                          <a:effectLst/>
                        </a:rPr>
                        <a:t>Exploitation of </a:t>
                      </a:r>
                      <a:r>
                        <a:rPr lang="en-US" sz="1050" dirty="0" err="1">
                          <a:solidFill>
                            <a:schemeClr val="bg1"/>
                          </a:solidFill>
                          <a:effectLst/>
                        </a:rPr>
                        <a:t>OfBiz</a:t>
                      </a:r>
                      <a:r>
                        <a:rPr lang="en-US" sz="1050" dirty="0">
                          <a:solidFill>
                            <a:schemeClr val="bg1"/>
                          </a:solidFill>
                          <a:effectLst/>
                        </a:rPr>
                        <a:t> vulnerabilities, Network breaches</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Enterprise Application Servers</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a:solidFill>
                            <a:schemeClr val="bg1"/>
                          </a:solidFill>
                          <a:effectLst/>
                        </a:rPr>
                        <a:t>7</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a:solidFill>
                            <a:schemeClr val="bg1"/>
                          </a:solidFill>
                          <a:effectLst/>
                        </a:rPr>
                        <a:t>9.2</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980264988"/>
                  </a:ext>
                </a:extLst>
              </a:tr>
              <a:tr h="470853">
                <a:tc>
                  <a:txBody>
                    <a:bodyPr/>
                    <a:lstStyle/>
                    <a:p>
                      <a:pPr rtl="0" fontAlgn="b"/>
                      <a:r>
                        <a:rPr lang="en-US" sz="1050" dirty="0">
                          <a:solidFill>
                            <a:schemeClr val="bg1"/>
                          </a:solidFill>
                          <a:effectLst/>
                        </a:rPr>
                        <a:t>T3, T5</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dirty="0">
                          <a:solidFill>
                            <a:schemeClr val="bg1"/>
                          </a:solidFill>
                          <a:effectLst/>
                        </a:rPr>
                        <a:t>Compromised VDI instances, Identity theft</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Virtual Desktop Infrastructure</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a:solidFill>
                            <a:schemeClr val="bg1"/>
                          </a:solidFill>
                          <a:effectLst/>
                        </a:rPr>
                        <a:t>5</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a:solidFill>
                            <a:schemeClr val="bg1"/>
                          </a:solidFill>
                          <a:effectLst/>
                        </a:rPr>
                        <a:t>7.8</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168248010"/>
                  </a:ext>
                </a:extLst>
              </a:tr>
              <a:tr h="243327">
                <a:tc>
                  <a:txBody>
                    <a:bodyPr/>
                    <a:lstStyle/>
                    <a:p>
                      <a:pPr rtl="0" fontAlgn="b"/>
                      <a:r>
                        <a:rPr lang="en-US" sz="1050" dirty="0">
                          <a:solidFill>
                            <a:schemeClr val="bg1"/>
                          </a:solidFill>
                          <a:effectLst/>
                        </a:rPr>
                        <a:t>T4, T8</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Unauthorized access to database, Data loss due to lack of backups</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Document Database</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a:solidFill>
                            <a:schemeClr val="bg1"/>
                          </a:solidFill>
                          <a:effectLst/>
                        </a:rPr>
                        <a:t>6</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a:solidFill>
                            <a:schemeClr val="bg1"/>
                          </a:solidFill>
                          <a:effectLst/>
                        </a:rPr>
                        <a:t>8.7</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835454817"/>
                  </a:ext>
                </a:extLst>
              </a:tr>
              <a:tr h="357090">
                <a:tc>
                  <a:txBody>
                    <a:bodyPr/>
                    <a:lstStyle/>
                    <a:p>
                      <a:pPr rtl="0" fontAlgn="b"/>
                      <a:r>
                        <a:rPr lang="en-US" sz="1050" dirty="0">
                          <a:solidFill>
                            <a:schemeClr val="bg1"/>
                          </a:solidFill>
                          <a:effectLst/>
                        </a:rPr>
                        <a:t>T5, T9</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Identity theft, Ineffective handling of security incidents</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IAM and Access Controls</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a:solidFill>
                            <a:schemeClr val="bg1"/>
                          </a:solidFill>
                          <a:effectLst/>
                        </a:rPr>
                        <a:t>6</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a:solidFill>
                            <a:schemeClr val="bg1"/>
                          </a:solidFill>
                          <a:effectLst/>
                        </a:rPr>
                        <a:t>9</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8949202"/>
                  </a:ext>
                </a:extLst>
              </a:tr>
              <a:tr h="470853">
                <a:tc>
                  <a:txBody>
                    <a:bodyPr/>
                    <a:lstStyle/>
                    <a:p>
                      <a:pPr rtl="0" fontAlgn="b"/>
                      <a:r>
                        <a:rPr lang="en-US" sz="1050" dirty="0">
                          <a:solidFill>
                            <a:schemeClr val="bg1"/>
                          </a:solidFill>
                          <a:effectLst/>
                        </a:rPr>
                        <a:t>T6, T10</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Network breaches, Undetected vulnerabilities</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VPC and Network Configuration</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a:solidFill>
                            <a:schemeClr val="bg1"/>
                          </a:solidFill>
                          <a:effectLst/>
                        </a:rPr>
                        <a:t>7</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a:solidFill>
                            <a:schemeClr val="bg1"/>
                          </a:solidFill>
                          <a:effectLst/>
                        </a:rPr>
                        <a:t>9.1</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391262617"/>
                  </a:ext>
                </a:extLst>
              </a:tr>
              <a:tr h="243327">
                <a:tc>
                  <a:txBody>
                    <a:bodyPr/>
                    <a:lstStyle/>
                    <a:p>
                      <a:pPr rtl="0" fontAlgn="b"/>
                      <a:r>
                        <a:rPr lang="en-US" sz="1050" dirty="0">
                          <a:solidFill>
                            <a:schemeClr val="bg1"/>
                          </a:solidFill>
                          <a:effectLst/>
                        </a:rPr>
                        <a:t>T7, T1</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Lack of visibility into security events, Unauthorized access</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Monitoring and Logging</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a:solidFill>
                            <a:schemeClr val="bg1"/>
                          </a:solidFill>
                          <a:effectLst/>
                        </a:rPr>
                        <a:t>5</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a:solidFill>
                            <a:schemeClr val="bg1"/>
                          </a:solidFill>
                          <a:effectLst/>
                        </a:rPr>
                        <a:t>6.5</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009684789"/>
                  </a:ext>
                </a:extLst>
              </a:tr>
              <a:tr h="357090">
                <a:tc>
                  <a:txBody>
                    <a:bodyPr/>
                    <a:lstStyle/>
                    <a:p>
                      <a:pPr rtl="0" fontAlgn="b"/>
                      <a:r>
                        <a:rPr lang="en-US" sz="1050" dirty="0">
                          <a:solidFill>
                            <a:schemeClr val="bg1"/>
                          </a:solidFill>
                          <a:effectLst/>
                        </a:rPr>
                        <a:t>T8, T4</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Data loss due to lack of backups, Unauthorized access to database</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Data Backup and Recovery</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a:solidFill>
                            <a:schemeClr val="bg1"/>
                          </a:solidFill>
                          <a:effectLst/>
                        </a:rPr>
                        <a:t>6</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dirty="0">
                          <a:solidFill>
                            <a:schemeClr val="bg1"/>
                          </a:solidFill>
                          <a:effectLst/>
                        </a:rPr>
                        <a:t>8.9</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732868088"/>
                  </a:ext>
                </a:extLst>
              </a:tr>
              <a:tr h="357090">
                <a:tc>
                  <a:txBody>
                    <a:bodyPr/>
                    <a:lstStyle/>
                    <a:p>
                      <a:pPr rtl="0" fontAlgn="b"/>
                      <a:r>
                        <a:rPr lang="en-US" sz="1050" dirty="0">
                          <a:solidFill>
                            <a:schemeClr val="bg1"/>
                          </a:solidFill>
                          <a:effectLst/>
                        </a:rPr>
                        <a:t>T9, T7</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Ineffective handling of security incidents, Lack of visibility</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a:solidFill>
                            <a:schemeClr val="bg1"/>
                          </a:solidFill>
                          <a:effectLst/>
                        </a:rPr>
                        <a:t>Incident Response Plan</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a:solidFill>
                            <a:schemeClr val="bg1"/>
                          </a:solidFill>
                          <a:effectLst/>
                        </a:rPr>
                        <a:t>6</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a:solidFill>
                            <a:schemeClr val="bg1"/>
                          </a:solidFill>
                          <a:effectLst/>
                        </a:rPr>
                        <a:t>8.3</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155565827"/>
                  </a:ext>
                </a:extLst>
              </a:tr>
              <a:tr h="357090">
                <a:tc>
                  <a:txBody>
                    <a:bodyPr/>
                    <a:lstStyle/>
                    <a:p>
                      <a:pPr rtl="0" fontAlgn="b"/>
                      <a:r>
                        <a:rPr lang="en-US" sz="1050" dirty="0">
                          <a:solidFill>
                            <a:schemeClr val="bg1"/>
                          </a:solidFill>
                          <a:effectLst/>
                        </a:rPr>
                        <a:t>T10, T3</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dirty="0">
                          <a:solidFill>
                            <a:schemeClr val="bg1"/>
                          </a:solidFill>
                          <a:effectLst/>
                        </a:rPr>
                        <a:t>Undetected vulnerabilities, Compromised VDI instances</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50" dirty="0">
                          <a:solidFill>
                            <a:schemeClr val="bg1"/>
                          </a:solidFill>
                          <a:effectLst/>
                        </a:rPr>
                        <a:t>Regular Security Audits</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dirty="0">
                          <a:solidFill>
                            <a:schemeClr val="bg1"/>
                          </a:solidFill>
                          <a:effectLst/>
                        </a:rPr>
                        <a:t>5</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US" sz="1050" dirty="0">
                          <a:solidFill>
                            <a:schemeClr val="bg1"/>
                          </a:solidFill>
                          <a:effectLst/>
                        </a:rPr>
                        <a:t>7.2</a:t>
                      </a:r>
                    </a:p>
                  </a:txBody>
                  <a:tcPr marL="11850" marR="11850" marT="7900" marB="790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95037890"/>
                  </a:ext>
                </a:extLst>
              </a:tr>
            </a:tbl>
          </a:graphicData>
        </a:graphic>
      </p:graphicFrame>
    </p:spTree>
    <p:extLst>
      <p:ext uri="{BB962C8B-B14F-4D97-AF65-F5344CB8AC3E}">
        <p14:creationId xmlns:p14="http://schemas.microsoft.com/office/powerpoint/2010/main" val="3412150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5F8F1-2CFB-D5DC-EECD-E3ECC71F710E}"/>
              </a:ext>
            </a:extLst>
          </p:cNvPr>
          <p:cNvSpPr>
            <a:spLocks noGrp="1"/>
          </p:cNvSpPr>
          <p:nvPr>
            <p:ph type="title"/>
          </p:nvPr>
        </p:nvSpPr>
        <p:spPr/>
        <p:txBody>
          <a:bodyPr/>
          <a:lstStyle/>
          <a:p>
            <a:r>
              <a:rPr lang="en-US" dirty="0"/>
              <a:t>Risk Mitigation Strategies</a:t>
            </a:r>
          </a:p>
        </p:txBody>
      </p:sp>
      <p:graphicFrame>
        <p:nvGraphicFramePr>
          <p:cNvPr id="4" name="Content Placeholder 3">
            <a:extLst>
              <a:ext uri="{FF2B5EF4-FFF2-40B4-BE49-F238E27FC236}">
                <a16:creationId xmlns:a16="http://schemas.microsoft.com/office/drawing/2014/main" id="{45586AFB-BC01-18C2-5BEE-2F1CFA72BF68}"/>
              </a:ext>
            </a:extLst>
          </p:cNvPr>
          <p:cNvGraphicFramePr>
            <a:graphicFrameLocks noGrp="1"/>
          </p:cNvGraphicFramePr>
          <p:nvPr>
            <p:ph sz="quarter" idx="13"/>
            <p:extLst>
              <p:ext uri="{D42A27DB-BD31-4B8C-83A1-F6EECF244321}">
                <p14:modId xmlns:p14="http://schemas.microsoft.com/office/powerpoint/2010/main" val="214423266"/>
              </p:ext>
            </p:extLst>
          </p:nvPr>
        </p:nvGraphicFramePr>
        <p:xfrm>
          <a:off x="3434317" y="2222205"/>
          <a:ext cx="7325833" cy="3267452"/>
        </p:xfrm>
        <a:graphic>
          <a:graphicData uri="http://schemas.openxmlformats.org/drawingml/2006/table">
            <a:tbl>
              <a:tblPr/>
              <a:tblGrid>
                <a:gridCol w="1095153">
                  <a:extLst>
                    <a:ext uri="{9D8B030D-6E8A-4147-A177-3AD203B41FA5}">
                      <a16:colId xmlns:a16="http://schemas.microsoft.com/office/drawing/2014/main" val="869794974"/>
                    </a:ext>
                  </a:extLst>
                </a:gridCol>
                <a:gridCol w="2711302">
                  <a:extLst>
                    <a:ext uri="{9D8B030D-6E8A-4147-A177-3AD203B41FA5}">
                      <a16:colId xmlns:a16="http://schemas.microsoft.com/office/drawing/2014/main" val="3971858507"/>
                    </a:ext>
                  </a:extLst>
                </a:gridCol>
                <a:gridCol w="3519378">
                  <a:extLst>
                    <a:ext uri="{9D8B030D-6E8A-4147-A177-3AD203B41FA5}">
                      <a16:colId xmlns:a16="http://schemas.microsoft.com/office/drawing/2014/main" val="1885636747"/>
                    </a:ext>
                  </a:extLst>
                </a:gridCol>
              </a:tblGrid>
              <a:tr h="183892">
                <a:tc>
                  <a:txBody>
                    <a:bodyPr/>
                    <a:lstStyle/>
                    <a:p>
                      <a:pPr rtl="0" fontAlgn="b"/>
                      <a:r>
                        <a:rPr lang="en-US" sz="1000" b="1" dirty="0">
                          <a:solidFill>
                            <a:schemeClr val="bg1"/>
                          </a:solidFill>
                          <a:effectLst/>
                        </a:rPr>
                        <a:t>Risk ID</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b="1" dirty="0">
                          <a:solidFill>
                            <a:schemeClr val="bg1"/>
                          </a:solidFill>
                          <a:effectLst/>
                        </a:rPr>
                        <a:t>Identified Risk</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F0D57B"/>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b="1" dirty="0">
                          <a:solidFill>
                            <a:schemeClr val="bg1"/>
                          </a:solidFill>
                          <a:effectLst/>
                        </a:rPr>
                        <a:t>Risk Mitigation Strategy/Control Implementation</a:t>
                      </a:r>
                    </a:p>
                  </a:txBody>
                  <a:tcPr marL="0" marR="0" marT="1778" marB="1778" anchor="b">
                    <a:lnL w="9525" cap="flat" cmpd="sng" algn="ctr">
                      <a:solidFill>
                        <a:srgbClr val="F0D57B"/>
                      </a:solidFill>
                      <a:prstDash val="solid"/>
                      <a:round/>
                      <a:headEnd type="none" w="med" len="med"/>
                      <a:tailEnd type="none" w="med" len="med"/>
                    </a:lnL>
                    <a:lnR w="9525" cap="flat" cmpd="sng" algn="ctr">
                      <a:solidFill>
                        <a:srgbClr val="F0D57B"/>
                      </a:solidFill>
                      <a:prstDash val="solid"/>
                      <a:round/>
                      <a:headEnd type="none" w="med" len="med"/>
                      <a:tailEnd type="none" w="med" len="med"/>
                    </a:lnR>
                    <a:lnT w="9525" cap="flat" cmpd="sng" algn="ctr">
                      <a:solidFill>
                        <a:srgbClr val="F0D57B"/>
                      </a:solidFill>
                      <a:prstDash val="solid"/>
                      <a:round/>
                      <a:headEnd type="none" w="med" len="med"/>
                      <a:tailEnd type="none" w="med" len="med"/>
                    </a:lnT>
                    <a:lnB w="9525" cap="flat" cmpd="sng" algn="ctr">
                      <a:solidFill>
                        <a:srgbClr val="50D37B"/>
                      </a:solidFill>
                      <a:prstDash val="solid"/>
                      <a:round/>
                      <a:headEnd type="none" w="med" len="med"/>
                      <a:tailEnd type="none" w="med" len="med"/>
                    </a:lnB>
                    <a:noFill/>
                  </a:tcPr>
                </a:tc>
                <a:extLst>
                  <a:ext uri="{0D108BD9-81ED-4DB2-BD59-A6C34878D82A}">
                    <a16:rowId xmlns:a16="http://schemas.microsoft.com/office/drawing/2014/main" val="3310242140"/>
                  </a:ext>
                </a:extLst>
              </a:tr>
              <a:tr h="253957">
                <a:tc>
                  <a:txBody>
                    <a:bodyPr/>
                    <a:lstStyle/>
                    <a:p>
                      <a:pPr rtl="0" fontAlgn="b"/>
                      <a:r>
                        <a:rPr lang="en-US" sz="1000" b="1" dirty="0">
                          <a:solidFill>
                            <a:schemeClr val="bg1"/>
                          </a:solidFill>
                          <a:effectLst/>
                        </a:rPr>
                        <a:t>R1</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dirty="0">
                          <a:solidFill>
                            <a:schemeClr val="bg1"/>
                          </a:solidFill>
                          <a:effectLst/>
                        </a:rPr>
                        <a:t>Unauthorized access to web servers</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50D37B"/>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a:solidFill>
                            <a:schemeClr val="bg1"/>
                          </a:solidFill>
                          <a:effectLst/>
                        </a:rPr>
                        <a:t>- Implement AWS WAF for web servers. - Regularly patch and update web servers (e.g., Apache, Nginx).</a:t>
                      </a:r>
                    </a:p>
                  </a:txBody>
                  <a:tcPr marL="0" marR="0" marT="1778" marB="1778" anchor="b">
                    <a:lnL w="9525" cap="flat" cmpd="sng" algn="ctr">
                      <a:solidFill>
                        <a:srgbClr val="50D37B"/>
                      </a:solidFill>
                      <a:prstDash val="solid"/>
                      <a:round/>
                      <a:headEnd type="none" w="med" len="med"/>
                      <a:tailEnd type="none" w="med" len="med"/>
                    </a:lnL>
                    <a:lnR w="9525" cap="flat" cmpd="sng" algn="ctr">
                      <a:solidFill>
                        <a:srgbClr val="50D37B"/>
                      </a:solidFill>
                      <a:prstDash val="solid"/>
                      <a:round/>
                      <a:headEnd type="none" w="med" len="med"/>
                      <a:tailEnd type="none" w="med" len="med"/>
                    </a:lnR>
                    <a:lnT w="9525" cap="flat" cmpd="sng" algn="ctr">
                      <a:solidFill>
                        <a:srgbClr val="50D37B"/>
                      </a:solidFill>
                      <a:prstDash val="solid"/>
                      <a:round/>
                      <a:headEnd type="none" w="med" len="med"/>
                      <a:tailEnd type="none" w="med" len="med"/>
                    </a:lnT>
                    <a:lnB w="9525" cap="flat" cmpd="sng" algn="ctr">
                      <a:solidFill>
                        <a:srgbClr val="70D57B"/>
                      </a:solidFill>
                      <a:prstDash val="solid"/>
                      <a:round/>
                      <a:headEnd type="none" w="med" len="med"/>
                      <a:tailEnd type="none" w="med" len="med"/>
                    </a:lnB>
                    <a:noFill/>
                  </a:tcPr>
                </a:tc>
                <a:extLst>
                  <a:ext uri="{0D108BD9-81ED-4DB2-BD59-A6C34878D82A}">
                    <a16:rowId xmlns:a16="http://schemas.microsoft.com/office/drawing/2014/main" val="2410789657"/>
                  </a:ext>
                </a:extLst>
              </a:tr>
              <a:tr h="253957">
                <a:tc>
                  <a:txBody>
                    <a:bodyPr/>
                    <a:lstStyle/>
                    <a:p>
                      <a:pPr rtl="0" fontAlgn="b"/>
                      <a:r>
                        <a:rPr lang="en-US" sz="1000" b="1" dirty="0">
                          <a:solidFill>
                            <a:schemeClr val="bg1"/>
                          </a:solidFill>
                          <a:effectLst/>
                        </a:rPr>
                        <a:t>R2</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dirty="0">
                          <a:solidFill>
                            <a:schemeClr val="bg1"/>
                          </a:solidFill>
                          <a:effectLst/>
                        </a:rPr>
                        <a:t>Exploitation of Apache </a:t>
                      </a:r>
                      <a:r>
                        <a:rPr lang="en-US" sz="1000" dirty="0" err="1">
                          <a:solidFill>
                            <a:schemeClr val="bg1"/>
                          </a:solidFill>
                          <a:effectLst/>
                        </a:rPr>
                        <a:t>OfBiz</a:t>
                      </a:r>
                      <a:r>
                        <a:rPr lang="en-US" sz="1000" dirty="0">
                          <a:solidFill>
                            <a:schemeClr val="bg1"/>
                          </a:solidFill>
                          <a:effectLst/>
                        </a:rPr>
                        <a:t> vulnerabilities</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70D57B"/>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dirty="0">
                          <a:solidFill>
                            <a:schemeClr val="bg1"/>
                          </a:solidFill>
                          <a:effectLst/>
                        </a:rPr>
                        <a:t>- Regularly update and patch Apache </a:t>
                      </a:r>
                      <a:r>
                        <a:rPr lang="en-US" sz="1000" dirty="0" err="1">
                          <a:solidFill>
                            <a:schemeClr val="bg1"/>
                          </a:solidFill>
                          <a:effectLst/>
                        </a:rPr>
                        <a:t>OfBiz</a:t>
                      </a:r>
                      <a:r>
                        <a:rPr lang="en-US" sz="1000" dirty="0">
                          <a:solidFill>
                            <a:schemeClr val="bg1"/>
                          </a:solidFill>
                          <a:effectLst/>
                        </a:rPr>
                        <a:t>. - Deploy AWS WAF for additional protection.</a:t>
                      </a:r>
                    </a:p>
                  </a:txBody>
                  <a:tcPr marL="0" marR="0" marT="1778" marB="1778" anchor="b">
                    <a:lnL w="9525" cap="flat" cmpd="sng" algn="ctr">
                      <a:solidFill>
                        <a:srgbClr val="70D57B"/>
                      </a:solidFill>
                      <a:prstDash val="solid"/>
                      <a:round/>
                      <a:headEnd type="none" w="med" len="med"/>
                      <a:tailEnd type="none" w="med" len="med"/>
                    </a:lnL>
                    <a:lnR w="9525" cap="flat" cmpd="sng" algn="ctr">
                      <a:solidFill>
                        <a:srgbClr val="70D57B"/>
                      </a:solidFill>
                      <a:prstDash val="solid"/>
                      <a:round/>
                      <a:headEnd type="none" w="med" len="med"/>
                      <a:tailEnd type="none" w="med" len="med"/>
                    </a:lnR>
                    <a:lnT w="9525" cap="flat" cmpd="sng" algn="ctr">
                      <a:solidFill>
                        <a:srgbClr val="70D57B"/>
                      </a:solidFill>
                      <a:prstDash val="solid"/>
                      <a:round/>
                      <a:headEnd type="none" w="med" len="med"/>
                      <a:tailEnd type="none" w="med" len="med"/>
                    </a:lnT>
                    <a:lnB w="9525" cap="flat" cmpd="sng" algn="ctr">
                      <a:solidFill>
                        <a:srgbClr val="70D77B"/>
                      </a:solidFill>
                      <a:prstDash val="solid"/>
                      <a:round/>
                      <a:headEnd type="none" w="med" len="med"/>
                      <a:tailEnd type="none" w="med" len="med"/>
                    </a:lnB>
                    <a:noFill/>
                  </a:tcPr>
                </a:tc>
                <a:extLst>
                  <a:ext uri="{0D108BD9-81ED-4DB2-BD59-A6C34878D82A}">
                    <a16:rowId xmlns:a16="http://schemas.microsoft.com/office/drawing/2014/main" val="457304094"/>
                  </a:ext>
                </a:extLst>
              </a:tr>
              <a:tr h="253957">
                <a:tc>
                  <a:txBody>
                    <a:bodyPr/>
                    <a:lstStyle/>
                    <a:p>
                      <a:pPr rtl="0" fontAlgn="b"/>
                      <a:r>
                        <a:rPr lang="en-US" sz="1000" b="1" dirty="0">
                          <a:solidFill>
                            <a:schemeClr val="bg1"/>
                          </a:solidFill>
                          <a:effectLst/>
                        </a:rPr>
                        <a:t>R3</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a:solidFill>
                            <a:schemeClr val="bg1"/>
                          </a:solidFill>
                          <a:effectLst/>
                        </a:rPr>
                        <a:t>Compromised VDI instances</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70D77B"/>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dirty="0">
                          <a:solidFill>
                            <a:schemeClr val="bg1"/>
                          </a:solidFill>
                          <a:effectLst/>
                        </a:rPr>
                        <a:t>- Implement MFA for VDI access. - Ensure proper encryption for VDI.</a:t>
                      </a:r>
                    </a:p>
                  </a:txBody>
                  <a:tcPr marL="0" marR="0" marT="1778" marB="1778" anchor="b">
                    <a:lnL w="9525" cap="flat" cmpd="sng" algn="ctr">
                      <a:solidFill>
                        <a:srgbClr val="70D77B"/>
                      </a:solidFill>
                      <a:prstDash val="solid"/>
                      <a:round/>
                      <a:headEnd type="none" w="med" len="med"/>
                      <a:tailEnd type="none" w="med" len="med"/>
                    </a:lnL>
                    <a:lnR w="9525" cap="flat" cmpd="sng" algn="ctr">
                      <a:solidFill>
                        <a:srgbClr val="70D77B"/>
                      </a:solidFill>
                      <a:prstDash val="solid"/>
                      <a:round/>
                      <a:headEnd type="none" w="med" len="med"/>
                      <a:tailEnd type="none" w="med" len="med"/>
                    </a:lnR>
                    <a:lnT w="9525" cap="flat" cmpd="sng" algn="ctr">
                      <a:solidFill>
                        <a:srgbClr val="70D77B"/>
                      </a:solidFill>
                      <a:prstDash val="solid"/>
                      <a:round/>
                      <a:headEnd type="none" w="med" len="med"/>
                      <a:tailEnd type="none" w="med" len="med"/>
                    </a:lnT>
                    <a:lnB w="9525" cap="flat" cmpd="sng" algn="ctr">
                      <a:solidFill>
                        <a:srgbClr val="B0D97B"/>
                      </a:solidFill>
                      <a:prstDash val="solid"/>
                      <a:round/>
                      <a:headEnd type="none" w="med" len="med"/>
                      <a:tailEnd type="none" w="med" len="med"/>
                    </a:lnB>
                    <a:noFill/>
                  </a:tcPr>
                </a:tc>
                <a:extLst>
                  <a:ext uri="{0D108BD9-81ED-4DB2-BD59-A6C34878D82A}">
                    <a16:rowId xmlns:a16="http://schemas.microsoft.com/office/drawing/2014/main" val="1114627456"/>
                  </a:ext>
                </a:extLst>
              </a:tr>
              <a:tr h="253957">
                <a:tc>
                  <a:txBody>
                    <a:bodyPr/>
                    <a:lstStyle/>
                    <a:p>
                      <a:pPr rtl="0" fontAlgn="b"/>
                      <a:r>
                        <a:rPr lang="en-US" sz="1000" b="1" dirty="0">
                          <a:solidFill>
                            <a:schemeClr val="bg1"/>
                          </a:solidFill>
                          <a:effectLst/>
                        </a:rPr>
                        <a:t>R4</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a:solidFill>
                            <a:schemeClr val="bg1"/>
                          </a:solidFill>
                          <a:effectLst/>
                        </a:rPr>
                        <a:t>Unauthorized access to the document database</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B0D97B"/>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dirty="0">
                          <a:solidFill>
                            <a:schemeClr val="bg1"/>
                          </a:solidFill>
                          <a:effectLst/>
                        </a:rPr>
                        <a:t>- Implement encryption for the document database. - Regularly review and update access controls.</a:t>
                      </a:r>
                    </a:p>
                  </a:txBody>
                  <a:tcPr marL="0" marR="0" marT="1778" marB="1778" anchor="b">
                    <a:lnL w="9525" cap="flat" cmpd="sng" algn="ctr">
                      <a:solidFill>
                        <a:srgbClr val="B0D97B"/>
                      </a:solidFill>
                      <a:prstDash val="solid"/>
                      <a:round/>
                      <a:headEnd type="none" w="med" len="med"/>
                      <a:tailEnd type="none" w="med" len="med"/>
                    </a:lnL>
                    <a:lnR w="9525" cap="flat" cmpd="sng" algn="ctr">
                      <a:solidFill>
                        <a:srgbClr val="B0D97B"/>
                      </a:solidFill>
                      <a:prstDash val="solid"/>
                      <a:round/>
                      <a:headEnd type="none" w="med" len="med"/>
                      <a:tailEnd type="none" w="med" len="med"/>
                    </a:lnR>
                    <a:lnT w="9525" cap="flat" cmpd="sng" algn="ctr">
                      <a:solidFill>
                        <a:srgbClr val="B0D97B"/>
                      </a:solidFill>
                      <a:prstDash val="solid"/>
                      <a:round/>
                      <a:headEnd type="none" w="med" len="med"/>
                      <a:tailEnd type="none" w="med" len="med"/>
                    </a:lnT>
                    <a:lnB w="9525" cap="flat" cmpd="sng" algn="ctr">
                      <a:solidFill>
                        <a:srgbClr val="30DB7B"/>
                      </a:solidFill>
                      <a:prstDash val="solid"/>
                      <a:round/>
                      <a:headEnd type="none" w="med" len="med"/>
                      <a:tailEnd type="none" w="med" len="med"/>
                    </a:lnB>
                    <a:noFill/>
                  </a:tcPr>
                </a:tc>
                <a:extLst>
                  <a:ext uri="{0D108BD9-81ED-4DB2-BD59-A6C34878D82A}">
                    <a16:rowId xmlns:a16="http://schemas.microsoft.com/office/drawing/2014/main" val="2317790482"/>
                  </a:ext>
                </a:extLst>
              </a:tr>
              <a:tr h="253957">
                <a:tc>
                  <a:txBody>
                    <a:bodyPr/>
                    <a:lstStyle/>
                    <a:p>
                      <a:pPr rtl="0" fontAlgn="b"/>
                      <a:r>
                        <a:rPr lang="en-US" sz="1000" b="1" dirty="0">
                          <a:solidFill>
                            <a:schemeClr val="bg1"/>
                          </a:solidFill>
                          <a:effectLst/>
                        </a:rPr>
                        <a:t>R5</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a:solidFill>
                            <a:schemeClr val="bg1"/>
                          </a:solidFill>
                          <a:effectLst/>
                        </a:rPr>
                        <a:t>Identity theft and unauthorized access</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30DB7B"/>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dirty="0">
                          <a:solidFill>
                            <a:schemeClr val="bg1"/>
                          </a:solidFill>
                          <a:effectLst/>
                        </a:rPr>
                        <a:t>- Enforce the principle of least privilege in IAM. - Implement MFA for privileged accounts.</a:t>
                      </a:r>
                    </a:p>
                  </a:txBody>
                  <a:tcPr marL="0" marR="0" marT="1778" marB="1778" anchor="b">
                    <a:lnL w="9525" cap="flat" cmpd="sng" algn="ctr">
                      <a:solidFill>
                        <a:srgbClr val="30DB7B"/>
                      </a:solidFill>
                      <a:prstDash val="solid"/>
                      <a:round/>
                      <a:headEnd type="none" w="med" len="med"/>
                      <a:tailEnd type="none" w="med" len="med"/>
                    </a:lnL>
                    <a:lnR w="9525" cap="flat" cmpd="sng" algn="ctr">
                      <a:solidFill>
                        <a:srgbClr val="30DB7B"/>
                      </a:solidFill>
                      <a:prstDash val="solid"/>
                      <a:round/>
                      <a:headEnd type="none" w="med" len="med"/>
                      <a:tailEnd type="none" w="med" len="med"/>
                    </a:lnR>
                    <a:lnT w="9525" cap="flat" cmpd="sng" algn="ctr">
                      <a:solidFill>
                        <a:srgbClr val="30DB7B"/>
                      </a:solidFill>
                      <a:prstDash val="solid"/>
                      <a:round/>
                      <a:headEnd type="none" w="med" len="med"/>
                      <a:tailEnd type="none" w="med" len="med"/>
                    </a:lnT>
                    <a:lnB w="9525" cap="flat" cmpd="sng" algn="ctr">
                      <a:solidFill>
                        <a:srgbClr val="50E17B"/>
                      </a:solidFill>
                      <a:prstDash val="solid"/>
                      <a:round/>
                      <a:headEnd type="none" w="med" len="med"/>
                      <a:tailEnd type="none" w="med" len="med"/>
                    </a:lnB>
                    <a:noFill/>
                  </a:tcPr>
                </a:tc>
                <a:extLst>
                  <a:ext uri="{0D108BD9-81ED-4DB2-BD59-A6C34878D82A}">
                    <a16:rowId xmlns:a16="http://schemas.microsoft.com/office/drawing/2014/main" val="2842247916"/>
                  </a:ext>
                </a:extLst>
              </a:tr>
              <a:tr h="253957">
                <a:tc>
                  <a:txBody>
                    <a:bodyPr/>
                    <a:lstStyle/>
                    <a:p>
                      <a:pPr rtl="0" fontAlgn="b"/>
                      <a:r>
                        <a:rPr lang="en-US" sz="1000" b="1" dirty="0">
                          <a:solidFill>
                            <a:schemeClr val="bg1"/>
                          </a:solidFill>
                          <a:effectLst/>
                        </a:rPr>
                        <a:t>R6</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a:solidFill>
                            <a:schemeClr val="bg1"/>
                          </a:solidFill>
                          <a:effectLst/>
                        </a:rPr>
                        <a:t>Network breaches and data interception</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50E17B"/>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dirty="0">
                          <a:solidFill>
                            <a:schemeClr val="bg1"/>
                          </a:solidFill>
                          <a:effectLst/>
                        </a:rPr>
                        <a:t>- Utilize VPC for network segmentation. - Configure NACLs and Security Groups. - Conduct regular network audits.</a:t>
                      </a:r>
                    </a:p>
                  </a:txBody>
                  <a:tcPr marL="0" marR="0" marT="1778" marB="1778" anchor="b">
                    <a:lnL w="9525" cap="flat" cmpd="sng" algn="ctr">
                      <a:solidFill>
                        <a:srgbClr val="50E17B"/>
                      </a:solidFill>
                      <a:prstDash val="solid"/>
                      <a:round/>
                      <a:headEnd type="none" w="med" len="med"/>
                      <a:tailEnd type="none" w="med" len="med"/>
                    </a:lnL>
                    <a:lnR w="9525" cap="flat" cmpd="sng" algn="ctr">
                      <a:solidFill>
                        <a:srgbClr val="50E17B"/>
                      </a:solidFill>
                      <a:prstDash val="solid"/>
                      <a:round/>
                      <a:headEnd type="none" w="med" len="med"/>
                      <a:tailEnd type="none" w="med" len="med"/>
                    </a:lnR>
                    <a:lnT w="9525" cap="flat" cmpd="sng" algn="ctr">
                      <a:solidFill>
                        <a:srgbClr val="50E17B"/>
                      </a:solidFill>
                      <a:prstDash val="solid"/>
                      <a:round/>
                      <a:headEnd type="none" w="med" len="med"/>
                      <a:tailEnd type="none" w="med" len="med"/>
                    </a:lnT>
                    <a:lnB w="9525" cap="flat" cmpd="sng" algn="ctr">
                      <a:solidFill>
                        <a:srgbClr val="50E17B"/>
                      </a:solidFill>
                      <a:prstDash val="solid"/>
                      <a:round/>
                      <a:headEnd type="none" w="med" len="med"/>
                      <a:tailEnd type="none" w="med" len="med"/>
                    </a:lnB>
                    <a:noFill/>
                  </a:tcPr>
                </a:tc>
                <a:extLst>
                  <a:ext uri="{0D108BD9-81ED-4DB2-BD59-A6C34878D82A}">
                    <a16:rowId xmlns:a16="http://schemas.microsoft.com/office/drawing/2014/main" val="353377194"/>
                  </a:ext>
                </a:extLst>
              </a:tr>
              <a:tr h="253957">
                <a:tc>
                  <a:txBody>
                    <a:bodyPr/>
                    <a:lstStyle/>
                    <a:p>
                      <a:pPr rtl="0" fontAlgn="b"/>
                      <a:r>
                        <a:rPr lang="en-US" sz="1000" b="1" dirty="0">
                          <a:solidFill>
                            <a:schemeClr val="bg1"/>
                          </a:solidFill>
                          <a:effectLst/>
                        </a:rPr>
                        <a:t>R7</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a:solidFill>
                            <a:schemeClr val="bg1"/>
                          </a:solidFill>
                          <a:effectLst/>
                        </a:rPr>
                        <a:t>Lack of visibility into security events</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50E17B"/>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dirty="0">
                          <a:solidFill>
                            <a:schemeClr val="bg1"/>
                          </a:solidFill>
                          <a:effectLst/>
                        </a:rPr>
                        <a:t>- Enable AWS CloudTrail for logging. - Set up Amazon CloudWatch alarms for suspicious activities. - Implement AWS Config.</a:t>
                      </a:r>
                    </a:p>
                  </a:txBody>
                  <a:tcPr marL="0" marR="0" marT="1778" marB="1778" anchor="b">
                    <a:lnL w="9525" cap="flat" cmpd="sng" algn="ctr">
                      <a:solidFill>
                        <a:srgbClr val="50E17B"/>
                      </a:solidFill>
                      <a:prstDash val="solid"/>
                      <a:round/>
                      <a:headEnd type="none" w="med" len="med"/>
                      <a:tailEnd type="none" w="med" len="med"/>
                    </a:lnL>
                    <a:lnR w="9525" cap="flat" cmpd="sng" algn="ctr">
                      <a:solidFill>
                        <a:srgbClr val="50E17B"/>
                      </a:solidFill>
                      <a:prstDash val="solid"/>
                      <a:round/>
                      <a:headEnd type="none" w="med" len="med"/>
                      <a:tailEnd type="none" w="med" len="med"/>
                    </a:lnR>
                    <a:lnT w="9525" cap="flat" cmpd="sng" algn="ctr">
                      <a:solidFill>
                        <a:srgbClr val="50E17B"/>
                      </a:solidFill>
                      <a:prstDash val="solid"/>
                      <a:round/>
                      <a:headEnd type="none" w="med" len="med"/>
                      <a:tailEnd type="none" w="med" len="med"/>
                    </a:lnT>
                    <a:lnB w="9525" cap="flat" cmpd="sng" algn="ctr">
                      <a:solidFill>
                        <a:srgbClr val="10DA7B"/>
                      </a:solidFill>
                      <a:prstDash val="solid"/>
                      <a:round/>
                      <a:headEnd type="none" w="med" len="med"/>
                      <a:tailEnd type="none" w="med" len="med"/>
                    </a:lnB>
                    <a:noFill/>
                  </a:tcPr>
                </a:tc>
                <a:extLst>
                  <a:ext uri="{0D108BD9-81ED-4DB2-BD59-A6C34878D82A}">
                    <a16:rowId xmlns:a16="http://schemas.microsoft.com/office/drawing/2014/main" val="485922124"/>
                  </a:ext>
                </a:extLst>
              </a:tr>
              <a:tr h="253957">
                <a:tc>
                  <a:txBody>
                    <a:bodyPr/>
                    <a:lstStyle/>
                    <a:p>
                      <a:pPr rtl="0" fontAlgn="b"/>
                      <a:r>
                        <a:rPr lang="en-US" sz="1000" b="1" dirty="0">
                          <a:solidFill>
                            <a:schemeClr val="bg1"/>
                          </a:solidFill>
                          <a:effectLst/>
                        </a:rPr>
                        <a:t>R8</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a:solidFill>
                            <a:schemeClr val="bg1"/>
                          </a:solidFill>
                          <a:effectLst/>
                        </a:rPr>
                        <a:t>Data loss due to lack of backups</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10DA7B"/>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dirty="0">
                          <a:solidFill>
                            <a:schemeClr val="bg1"/>
                          </a:solidFill>
                          <a:effectLst/>
                        </a:rPr>
                        <a:t>- Establish a robust backup strategy. - Conduct regular backup testing. - Implement automated backup setups.</a:t>
                      </a:r>
                    </a:p>
                  </a:txBody>
                  <a:tcPr marL="0" marR="0" marT="1778" marB="1778" anchor="b">
                    <a:lnL w="9525" cap="flat" cmpd="sng" algn="ctr">
                      <a:solidFill>
                        <a:srgbClr val="10DA7B"/>
                      </a:solidFill>
                      <a:prstDash val="solid"/>
                      <a:round/>
                      <a:headEnd type="none" w="med" len="med"/>
                      <a:tailEnd type="none" w="med" len="med"/>
                    </a:lnL>
                    <a:lnR w="9525" cap="flat" cmpd="sng" algn="ctr">
                      <a:solidFill>
                        <a:srgbClr val="10DA7B"/>
                      </a:solidFill>
                      <a:prstDash val="solid"/>
                      <a:round/>
                      <a:headEnd type="none" w="med" len="med"/>
                      <a:tailEnd type="none" w="med" len="med"/>
                    </a:lnR>
                    <a:lnT w="9525" cap="flat" cmpd="sng" algn="ctr">
                      <a:solidFill>
                        <a:srgbClr val="10DA7B"/>
                      </a:solidFill>
                      <a:prstDash val="solid"/>
                      <a:round/>
                      <a:headEnd type="none" w="med" len="med"/>
                      <a:tailEnd type="none" w="med" len="med"/>
                    </a:lnT>
                    <a:lnB w="9525" cap="flat" cmpd="sng" algn="ctr">
                      <a:solidFill>
                        <a:srgbClr val="90E57B"/>
                      </a:solidFill>
                      <a:prstDash val="solid"/>
                      <a:round/>
                      <a:headEnd type="none" w="med" len="med"/>
                      <a:tailEnd type="none" w="med" len="med"/>
                    </a:lnB>
                    <a:noFill/>
                  </a:tcPr>
                </a:tc>
                <a:extLst>
                  <a:ext uri="{0D108BD9-81ED-4DB2-BD59-A6C34878D82A}">
                    <a16:rowId xmlns:a16="http://schemas.microsoft.com/office/drawing/2014/main" val="314076542"/>
                  </a:ext>
                </a:extLst>
              </a:tr>
              <a:tr h="253957">
                <a:tc>
                  <a:txBody>
                    <a:bodyPr/>
                    <a:lstStyle/>
                    <a:p>
                      <a:pPr rtl="0" fontAlgn="b"/>
                      <a:r>
                        <a:rPr lang="en-US" sz="1000" b="1" dirty="0">
                          <a:solidFill>
                            <a:schemeClr val="bg1"/>
                          </a:solidFill>
                          <a:effectLst/>
                        </a:rPr>
                        <a:t>R9</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a:solidFill>
                            <a:schemeClr val="bg1"/>
                          </a:solidFill>
                          <a:effectLst/>
                        </a:rPr>
                        <a:t>Ineffective handling of security incidents</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90E57B"/>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dirty="0">
                          <a:solidFill>
                            <a:schemeClr val="bg1"/>
                          </a:solidFill>
                          <a:effectLst/>
                        </a:rPr>
                        <a:t>- Develop and test an incident response plan. - Establish communication channels and workflows for handling incidents.</a:t>
                      </a:r>
                    </a:p>
                  </a:txBody>
                  <a:tcPr marL="0" marR="0" marT="1778" marB="1778" anchor="b">
                    <a:lnL w="9525" cap="flat" cmpd="sng" algn="ctr">
                      <a:solidFill>
                        <a:srgbClr val="90E57B"/>
                      </a:solidFill>
                      <a:prstDash val="solid"/>
                      <a:round/>
                      <a:headEnd type="none" w="med" len="med"/>
                      <a:tailEnd type="none" w="med" len="med"/>
                    </a:lnL>
                    <a:lnR w="9525" cap="flat" cmpd="sng" algn="ctr">
                      <a:solidFill>
                        <a:srgbClr val="90E57B"/>
                      </a:solidFill>
                      <a:prstDash val="solid"/>
                      <a:round/>
                      <a:headEnd type="none" w="med" len="med"/>
                      <a:tailEnd type="none" w="med" len="med"/>
                    </a:lnR>
                    <a:lnT w="9525" cap="flat" cmpd="sng" algn="ctr">
                      <a:solidFill>
                        <a:srgbClr val="90E57B"/>
                      </a:solidFill>
                      <a:prstDash val="solid"/>
                      <a:round/>
                      <a:headEnd type="none" w="med" len="med"/>
                      <a:tailEnd type="none" w="med" len="med"/>
                    </a:lnT>
                    <a:lnB w="9525" cap="flat" cmpd="sng" algn="ctr">
                      <a:solidFill>
                        <a:srgbClr val="70E77B"/>
                      </a:solidFill>
                      <a:prstDash val="solid"/>
                      <a:round/>
                      <a:headEnd type="none" w="med" len="med"/>
                      <a:tailEnd type="none" w="med" len="med"/>
                    </a:lnB>
                    <a:noFill/>
                  </a:tcPr>
                </a:tc>
                <a:extLst>
                  <a:ext uri="{0D108BD9-81ED-4DB2-BD59-A6C34878D82A}">
                    <a16:rowId xmlns:a16="http://schemas.microsoft.com/office/drawing/2014/main" val="3240045150"/>
                  </a:ext>
                </a:extLst>
              </a:tr>
              <a:tr h="188141">
                <a:tc>
                  <a:txBody>
                    <a:bodyPr/>
                    <a:lstStyle/>
                    <a:p>
                      <a:pPr rtl="0" fontAlgn="b"/>
                      <a:r>
                        <a:rPr lang="en-US" sz="1000" b="1" dirty="0">
                          <a:solidFill>
                            <a:schemeClr val="bg1"/>
                          </a:solidFill>
                          <a:effectLst/>
                        </a:rPr>
                        <a:t>R10</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dirty="0">
                          <a:solidFill>
                            <a:schemeClr val="bg1"/>
                          </a:solidFill>
                          <a:effectLst/>
                        </a:rPr>
                        <a:t>Undetected vulnerabilities</a:t>
                      </a:r>
                    </a:p>
                  </a:txBody>
                  <a:tcPr marL="2667" marR="2667" marT="1778" marB="1778" anchor="b">
                    <a:lnL w="9525" cap="flat" cmpd="sng" algn="ctr">
                      <a:solidFill>
                        <a:srgbClr val="CCCCCC"/>
                      </a:solidFill>
                      <a:prstDash val="solid"/>
                      <a:round/>
                      <a:headEnd type="none" w="med" len="med"/>
                      <a:tailEnd type="none" w="med" len="med"/>
                    </a:lnL>
                    <a:lnR w="9525" cap="flat" cmpd="sng" algn="ctr">
                      <a:solidFill>
                        <a:srgbClr val="70E77B"/>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b"/>
                      <a:r>
                        <a:rPr lang="en-US" sz="1000" dirty="0">
                          <a:solidFill>
                            <a:schemeClr val="bg1"/>
                          </a:solidFill>
                          <a:effectLst/>
                        </a:rPr>
                        <a:t>- Conduct regular security audits. - Utilize AWS Inspector for automated security assessments.</a:t>
                      </a:r>
                    </a:p>
                  </a:txBody>
                  <a:tcPr marL="0" marR="0" marT="1778" marB="1778" anchor="b">
                    <a:lnL w="9525" cap="flat" cmpd="sng" algn="ctr">
                      <a:solidFill>
                        <a:srgbClr val="70E77B"/>
                      </a:solidFill>
                      <a:prstDash val="solid"/>
                      <a:round/>
                      <a:headEnd type="none" w="med" len="med"/>
                      <a:tailEnd type="none" w="med" len="med"/>
                    </a:lnL>
                    <a:lnR w="9525" cap="flat" cmpd="sng" algn="ctr">
                      <a:solidFill>
                        <a:srgbClr val="70E77B"/>
                      </a:solidFill>
                      <a:prstDash val="solid"/>
                      <a:round/>
                      <a:headEnd type="none" w="med" len="med"/>
                      <a:tailEnd type="none" w="med" len="med"/>
                    </a:lnR>
                    <a:lnT w="9525" cap="flat" cmpd="sng" algn="ctr">
                      <a:solidFill>
                        <a:srgbClr val="70E77B"/>
                      </a:solidFill>
                      <a:prstDash val="solid"/>
                      <a:round/>
                      <a:headEnd type="none" w="med" len="med"/>
                      <a:tailEnd type="none" w="med" len="med"/>
                    </a:lnT>
                    <a:lnB w="9525" cap="flat" cmpd="sng" algn="ctr">
                      <a:solidFill>
                        <a:srgbClr val="70E77B"/>
                      </a:solidFill>
                      <a:prstDash val="solid"/>
                      <a:round/>
                      <a:headEnd type="none" w="med" len="med"/>
                      <a:tailEnd type="none" w="med" len="med"/>
                    </a:lnB>
                    <a:noFill/>
                  </a:tcPr>
                </a:tc>
                <a:extLst>
                  <a:ext uri="{0D108BD9-81ED-4DB2-BD59-A6C34878D82A}">
                    <a16:rowId xmlns:a16="http://schemas.microsoft.com/office/drawing/2014/main" val="4053711935"/>
                  </a:ext>
                </a:extLst>
              </a:tr>
            </a:tbl>
          </a:graphicData>
        </a:graphic>
      </p:graphicFrame>
    </p:spTree>
    <p:extLst>
      <p:ext uri="{BB962C8B-B14F-4D97-AF65-F5344CB8AC3E}">
        <p14:creationId xmlns:p14="http://schemas.microsoft.com/office/powerpoint/2010/main" val="2080821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CCB9-EE91-AE3E-D79C-CA14388C1248}"/>
              </a:ext>
            </a:extLst>
          </p:cNvPr>
          <p:cNvSpPr>
            <a:spLocks noGrp="1"/>
          </p:cNvSpPr>
          <p:nvPr>
            <p:ph type="title"/>
          </p:nvPr>
        </p:nvSpPr>
        <p:spPr/>
        <p:txBody>
          <a:bodyPr/>
          <a:lstStyle/>
          <a:p>
            <a:r>
              <a:rPr lang="en-US" dirty="0"/>
              <a:t>Supporting Industry Cloud Tools</a:t>
            </a:r>
          </a:p>
        </p:txBody>
      </p:sp>
      <p:sp>
        <p:nvSpPr>
          <p:cNvPr id="3" name="Content Placeholder 2">
            <a:extLst>
              <a:ext uri="{FF2B5EF4-FFF2-40B4-BE49-F238E27FC236}">
                <a16:creationId xmlns:a16="http://schemas.microsoft.com/office/drawing/2014/main" id="{6CBF1EF3-D0FD-3979-D8B7-EA347A214C6A}"/>
              </a:ext>
            </a:extLst>
          </p:cNvPr>
          <p:cNvSpPr>
            <a:spLocks noGrp="1"/>
          </p:cNvSpPr>
          <p:nvPr>
            <p:ph sz="quarter" idx="13"/>
          </p:nvPr>
        </p:nvSpPr>
        <p:spPr>
          <a:xfrm>
            <a:off x="1977656" y="2282007"/>
            <a:ext cx="9835115" cy="4575993"/>
          </a:xfrm>
        </p:spPr>
        <p:txBody>
          <a:bodyPr>
            <a:normAutofit fontScale="55000" lnSpcReduction="20000"/>
          </a:bodyPr>
          <a:lstStyle/>
          <a:p>
            <a:pPr marL="0" indent="0" algn="l">
              <a:spcBef>
                <a:spcPts val="600"/>
              </a:spcBef>
              <a:buNone/>
            </a:pPr>
            <a:r>
              <a:rPr lang="en-US" b="1" dirty="0">
                <a:latin typeface="Söhne"/>
              </a:rPr>
              <a:t>Proposed A</a:t>
            </a:r>
            <a:r>
              <a:rPr lang="en-US" b="1" i="0" dirty="0">
                <a:effectLst/>
                <a:latin typeface="Söhne"/>
              </a:rPr>
              <a:t>WS Services Employed:</a:t>
            </a:r>
            <a:endParaRPr lang="en-US" b="0" i="0" dirty="0">
              <a:effectLst/>
              <a:latin typeface="Söhne"/>
            </a:endParaRPr>
          </a:p>
          <a:p>
            <a:pPr marL="457200" lvl="1" indent="0" algn="l">
              <a:spcBef>
                <a:spcPts val="600"/>
              </a:spcBef>
              <a:buNone/>
            </a:pPr>
            <a:r>
              <a:rPr lang="en-US" b="1" i="0" dirty="0">
                <a:effectLst/>
                <a:latin typeface="Söhne"/>
              </a:rPr>
              <a:t>AWS Web Application Firewall (WAF):</a:t>
            </a:r>
            <a:endParaRPr lang="en-US" b="0" i="0" dirty="0">
              <a:effectLst/>
              <a:latin typeface="Söhne"/>
            </a:endParaRPr>
          </a:p>
          <a:p>
            <a:pPr marL="914400" lvl="2" indent="0" algn="l">
              <a:spcBef>
                <a:spcPts val="600"/>
              </a:spcBef>
              <a:buNone/>
            </a:pPr>
            <a:r>
              <a:rPr lang="en-US" b="0" i="0" dirty="0">
                <a:effectLst/>
                <a:latin typeface="Söhne"/>
              </a:rPr>
              <a:t>AWS WAF provides protection against common web exploits and allows </a:t>
            </a:r>
            <a:r>
              <a:rPr lang="en-US" b="0" i="0" dirty="0" err="1">
                <a:effectLst/>
                <a:latin typeface="Söhne"/>
              </a:rPr>
              <a:t>SwiftTech</a:t>
            </a:r>
            <a:r>
              <a:rPr lang="en-US" b="0" i="0" dirty="0">
                <a:effectLst/>
                <a:latin typeface="Söhne"/>
              </a:rPr>
              <a:t> to set up customizable web security rules.</a:t>
            </a:r>
          </a:p>
          <a:p>
            <a:pPr marL="457200" lvl="1" indent="0" algn="l">
              <a:spcBef>
                <a:spcPts val="600"/>
              </a:spcBef>
              <a:buNone/>
            </a:pPr>
            <a:r>
              <a:rPr lang="en-US" b="1" i="0" dirty="0">
                <a:effectLst/>
                <a:latin typeface="Söhne"/>
              </a:rPr>
              <a:t>Amazon CloudWatch:</a:t>
            </a:r>
            <a:endParaRPr lang="en-US" b="0" i="0" dirty="0">
              <a:effectLst/>
              <a:latin typeface="Söhne"/>
            </a:endParaRPr>
          </a:p>
          <a:p>
            <a:pPr marL="914400" lvl="2" indent="0" algn="l">
              <a:spcBef>
                <a:spcPts val="600"/>
              </a:spcBef>
              <a:buNone/>
            </a:pPr>
            <a:r>
              <a:rPr lang="en-US" b="0" i="0" dirty="0">
                <a:effectLst/>
                <a:latin typeface="Söhne"/>
              </a:rPr>
              <a:t>CloudWatch offers monitoring for resources and applications, enabling </a:t>
            </a:r>
            <a:r>
              <a:rPr lang="en-US" b="0" i="0" dirty="0" err="1">
                <a:effectLst/>
                <a:latin typeface="Söhne"/>
              </a:rPr>
              <a:t>SwiftTech</a:t>
            </a:r>
            <a:r>
              <a:rPr lang="en-US" b="0" i="0" dirty="0">
                <a:effectLst/>
                <a:latin typeface="Söhne"/>
              </a:rPr>
              <a:t> to gain insights into system performance and set alarms for potential issues.</a:t>
            </a:r>
          </a:p>
          <a:p>
            <a:pPr marL="457200" lvl="1" indent="0" algn="l">
              <a:spcBef>
                <a:spcPts val="600"/>
              </a:spcBef>
              <a:buNone/>
            </a:pPr>
            <a:r>
              <a:rPr lang="en-US" b="1" i="0" dirty="0">
                <a:effectLst/>
                <a:latin typeface="Söhne"/>
              </a:rPr>
              <a:t>Amazon Inspector:</a:t>
            </a:r>
            <a:endParaRPr lang="en-US" b="0" i="0" dirty="0">
              <a:effectLst/>
              <a:latin typeface="Söhne"/>
            </a:endParaRPr>
          </a:p>
          <a:p>
            <a:pPr marL="914400" lvl="2" indent="0" algn="l">
              <a:spcBef>
                <a:spcPts val="600"/>
              </a:spcBef>
              <a:buNone/>
            </a:pPr>
            <a:r>
              <a:rPr lang="en-US" b="0" i="0" dirty="0">
                <a:effectLst/>
                <a:latin typeface="Söhne"/>
              </a:rPr>
              <a:t>Amazon Inspector automates security assessments, helping </a:t>
            </a:r>
            <a:r>
              <a:rPr lang="en-US" b="0" i="0" dirty="0" err="1">
                <a:effectLst/>
                <a:latin typeface="Söhne"/>
              </a:rPr>
              <a:t>SwiftTech</a:t>
            </a:r>
            <a:r>
              <a:rPr lang="en-US" b="0" i="0" dirty="0">
                <a:effectLst/>
                <a:latin typeface="Söhne"/>
              </a:rPr>
              <a:t> identify vulnerabilities and potential security issues in their applications.</a:t>
            </a:r>
          </a:p>
          <a:p>
            <a:pPr marL="457200" lvl="1" indent="0" algn="l">
              <a:spcBef>
                <a:spcPts val="600"/>
              </a:spcBef>
              <a:buNone/>
            </a:pPr>
            <a:r>
              <a:rPr lang="en-US" b="1" i="0" dirty="0">
                <a:effectLst/>
                <a:latin typeface="Söhne"/>
              </a:rPr>
              <a:t>AWS Config:</a:t>
            </a:r>
            <a:endParaRPr lang="en-US" b="0" i="0" dirty="0">
              <a:effectLst/>
              <a:latin typeface="Söhne"/>
            </a:endParaRPr>
          </a:p>
          <a:p>
            <a:pPr marL="914400" lvl="2" indent="0" algn="l">
              <a:spcBef>
                <a:spcPts val="600"/>
              </a:spcBef>
              <a:buNone/>
            </a:pPr>
            <a:r>
              <a:rPr lang="en-US" b="0" i="0" dirty="0">
                <a:effectLst/>
                <a:latin typeface="Söhne"/>
              </a:rPr>
              <a:t>AWS Config enables </a:t>
            </a:r>
            <a:r>
              <a:rPr lang="en-US" b="0" i="0" dirty="0" err="1">
                <a:effectLst/>
                <a:latin typeface="Söhne"/>
              </a:rPr>
              <a:t>SwiftTech</a:t>
            </a:r>
            <a:r>
              <a:rPr lang="en-US" b="0" i="0" dirty="0">
                <a:effectLst/>
                <a:latin typeface="Söhne"/>
              </a:rPr>
              <a:t> to assess, audit, and evaluate the configurations of AWS resources, aiding in compliance and security management.</a:t>
            </a:r>
          </a:p>
          <a:p>
            <a:pPr marL="457200" lvl="1" indent="0" algn="l">
              <a:spcBef>
                <a:spcPts val="600"/>
              </a:spcBef>
              <a:buNone/>
            </a:pPr>
            <a:r>
              <a:rPr lang="en-US" b="1" i="0" dirty="0">
                <a:effectLst/>
                <a:latin typeface="Söhne"/>
              </a:rPr>
              <a:t>AWS CloudTrail:</a:t>
            </a:r>
            <a:endParaRPr lang="en-US" b="0" i="0" dirty="0">
              <a:effectLst/>
              <a:latin typeface="Söhne"/>
            </a:endParaRPr>
          </a:p>
          <a:p>
            <a:pPr marL="914400" lvl="2" indent="0" algn="l">
              <a:spcBef>
                <a:spcPts val="600"/>
              </a:spcBef>
              <a:buNone/>
            </a:pPr>
            <a:r>
              <a:rPr lang="en-US" b="0" i="0" dirty="0">
                <a:effectLst/>
                <a:latin typeface="Söhne"/>
              </a:rPr>
              <a:t>CloudTrail records AWS API calls, providing </a:t>
            </a:r>
            <a:r>
              <a:rPr lang="en-US" b="0" i="0" dirty="0" err="1">
                <a:effectLst/>
                <a:latin typeface="Söhne"/>
              </a:rPr>
              <a:t>SwiftTech</a:t>
            </a:r>
            <a:r>
              <a:rPr lang="en-US" b="0" i="0" dirty="0">
                <a:effectLst/>
                <a:latin typeface="Söhne"/>
              </a:rPr>
              <a:t> with visibility into user activity and resource changes for security analysis and compliance.	</a:t>
            </a:r>
          </a:p>
          <a:p>
            <a:pPr marL="0" indent="0">
              <a:spcBef>
                <a:spcPts val="600"/>
              </a:spcBef>
              <a:buNone/>
            </a:pPr>
            <a:r>
              <a:rPr lang="en-US" b="1" dirty="0">
                <a:latin typeface="Söhne"/>
              </a:rPr>
              <a:t>                     </a:t>
            </a:r>
            <a:r>
              <a:rPr lang="en-US" b="1" i="0" dirty="0">
                <a:effectLst/>
                <a:latin typeface="Söhne"/>
              </a:rPr>
              <a:t>AWS Key Management Service (KMS):</a:t>
            </a:r>
            <a:endParaRPr lang="en-US" b="0" i="0" dirty="0">
              <a:effectLst/>
              <a:latin typeface="Söhne"/>
            </a:endParaRPr>
          </a:p>
          <a:p>
            <a:pPr marL="457200" lvl="1" indent="0">
              <a:spcBef>
                <a:spcPts val="600"/>
              </a:spcBef>
              <a:buNone/>
            </a:pPr>
            <a:r>
              <a:rPr lang="en-US" b="0" i="0" dirty="0">
                <a:effectLst/>
                <a:latin typeface="Söhne"/>
              </a:rPr>
              <a:t>	KMS facilitates the management of cryptographic keys, ensuring the secure encryption of sensitive data and enhancing overall data protection.</a:t>
            </a:r>
          </a:p>
          <a:p>
            <a:pPr marL="0" indent="0">
              <a:spcBef>
                <a:spcPts val="600"/>
              </a:spcBef>
              <a:buNone/>
            </a:pPr>
            <a:r>
              <a:rPr lang="en-US" b="1" i="0" dirty="0">
                <a:effectLst/>
                <a:latin typeface="Söhne"/>
              </a:rPr>
              <a:t>                     AWS Identity and Access Management (IAM):</a:t>
            </a:r>
            <a:endParaRPr lang="en-US" b="0" i="0" dirty="0">
              <a:effectLst/>
              <a:latin typeface="Söhne"/>
            </a:endParaRPr>
          </a:p>
          <a:p>
            <a:pPr marL="457200" lvl="1" indent="0">
              <a:spcBef>
                <a:spcPts val="600"/>
              </a:spcBef>
              <a:buNone/>
            </a:pPr>
            <a:r>
              <a:rPr lang="en-US" b="0" i="0" dirty="0">
                <a:effectLst/>
                <a:latin typeface="Söhne"/>
              </a:rPr>
              <a:t>	IAM enables </a:t>
            </a:r>
            <a:r>
              <a:rPr lang="en-US" b="0" i="0" dirty="0" err="1">
                <a:effectLst/>
                <a:latin typeface="Söhne"/>
              </a:rPr>
              <a:t>SwiftTech</a:t>
            </a:r>
            <a:r>
              <a:rPr lang="en-US" b="0" i="0" dirty="0">
                <a:effectLst/>
                <a:latin typeface="Söhne"/>
              </a:rPr>
              <a:t> to manage user access securely, ensuring the principle of least privilege and enhancing overall control over their cloud resources.</a:t>
            </a:r>
          </a:p>
          <a:p>
            <a:pPr marL="0" indent="0">
              <a:spcBef>
                <a:spcPts val="600"/>
              </a:spcBef>
              <a:buNone/>
            </a:pPr>
            <a:r>
              <a:rPr lang="en-US" b="1" i="0" dirty="0">
                <a:effectLst/>
                <a:latin typeface="Söhne"/>
              </a:rPr>
              <a:t>                     Amazon Elastic Block Store (EBS):</a:t>
            </a:r>
            <a:endParaRPr lang="en-US" b="0" i="0" dirty="0">
              <a:effectLst/>
              <a:latin typeface="Söhne"/>
            </a:endParaRPr>
          </a:p>
          <a:p>
            <a:pPr marL="457200" lvl="1" indent="0">
              <a:spcBef>
                <a:spcPts val="600"/>
              </a:spcBef>
              <a:buNone/>
            </a:pPr>
            <a:r>
              <a:rPr lang="en-US" b="0" i="0" dirty="0">
                <a:effectLst/>
                <a:latin typeface="Söhne"/>
              </a:rPr>
              <a:t>	EBS provides scalable and secure block-level storage volumes, contributing to </a:t>
            </a:r>
            <a:r>
              <a:rPr lang="en-US" b="0" i="0" dirty="0" err="1">
                <a:effectLst/>
                <a:latin typeface="Söhne"/>
              </a:rPr>
              <a:t>SwiftTech's</a:t>
            </a:r>
            <a:r>
              <a:rPr lang="en-US" b="0" i="0" dirty="0">
                <a:effectLst/>
                <a:latin typeface="Söhne"/>
              </a:rPr>
              <a:t> data resilience and availability strategies.</a:t>
            </a:r>
          </a:p>
          <a:p>
            <a:pPr marL="0" indent="0">
              <a:spcBef>
                <a:spcPts val="600"/>
              </a:spcBef>
              <a:buNone/>
            </a:pPr>
            <a:r>
              <a:rPr lang="en-US" b="1" i="0" dirty="0">
                <a:effectLst/>
                <a:latin typeface="Söhne"/>
              </a:rPr>
              <a:t>                     Amazon Simple Storage Service (S3):</a:t>
            </a:r>
            <a:endParaRPr lang="en-US" b="0" i="0" dirty="0">
              <a:effectLst/>
              <a:latin typeface="Söhne"/>
            </a:endParaRPr>
          </a:p>
          <a:p>
            <a:pPr marL="457200" lvl="1" indent="0">
              <a:spcBef>
                <a:spcPts val="600"/>
              </a:spcBef>
              <a:buNone/>
            </a:pPr>
            <a:r>
              <a:rPr lang="en-US" i="1" dirty="0">
                <a:latin typeface="Söhne"/>
              </a:rPr>
              <a:t>	</a:t>
            </a:r>
            <a:r>
              <a:rPr lang="en-US" b="0" i="0" dirty="0">
                <a:effectLst/>
                <a:latin typeface="Söhne"/>
              </a:rPr>
              <a:t>S3 offers scalable object storage with robust security features, allowing </a:t>
            </a:r>
            <a:r>
              <a:rPr lang="en-US" b="0" i="0" dirty="0" err="1">
                <a:effectLst/>
                <a:latin typeface="Söhne"/>
              </a:rPr>
              <a:t>SwiftTech</a:t>
            </a:r>
            <a:r>
              <a:rPr lang="en-US" b="0" i="0" dirty="0">
                <a:effectLst/>
                <a:latin typeface="Söhne"/>
              </a:rPr>
              <a:t> to securely store and retrieve vast amounts of data.</a:t>
            </a:r>
          </a:p>
          <a:p>
            <a:pPr marL="0" indent="0" algn="l">
              <a:spcBef>
                <a:spcPts val="600"/>
              </a:spcBef>
              <a:buNone/>
            </a:pPr>
            <a:r>
              <a:rPr lang="en-US" b="1" i="0" dirty="0">
                <a:effectLst/>
                <a:latin typeface="Söhne"/>
              </a:rPr>
              <a:t>Emphasis on Tools Supporting Risk Mitigation:</a:t>
            </a:r>
            <a:endParaRPr lang="en-US" b="0" i="0" dirty="0">
              <a:effectLst/>
              <a:latin typeface="Söhne"/>
            </a:endParaRPr>
          </a:p>
          <a:p>
            <a:pPr marL="457200" lvl="1" indent="0" algn="l">
              <a:spcBef>
                <a:spcPts val="600"/>
              </a:spcBef>
              <a:buNone/>
            </a:pPr>
            <a:r>
              <a:rPr lang="en-US" b="0" i="0" dirty="0">
                <a:effectLst/>
                <a:latin typeface="Söhne"/>
              </a:rPr>
              <a:t>Besides these tools additional 3</a:t>
            </a:r>
            <a:r>
              <a:rPr lang="en-US" b="0" i="0" baseline="30000" dirty="0">
                <a:effectLst/>
                <a:latin typeface="Söhne"/>
              </a:rPr>
              <a:t>rd</a:t>
            </a:r>
            <a:r>
              <a:rPr lang="en-US" b="0" i="0" dirty="0">
                <a:effectLst/>
                <a:latin typeface="Söhne"/>
              </a:rPr>
              <a:t> party tools such as cisco packet tracer and </a:t>
            </a:r>
            <a:r>
              <a:rPr lang="en-US" dirty="0">
                <a:latin typeface="Söhne"/>
              </a:rPr>
              <a:t>similar network traffic analysis methods can improve</a:t>
            </a:r>
            <a:r>
              <a:rPr lang="en-US" b="0" i="0" dirty="0">
                <a:effectLst/>
                <a:latin typeface="Söhne"/>
              </a:rPr>
              <a:t> </a:t>
            </a:r>
            <a:r>
              <a:rPr lang="en-US" b="0" i="0" dirty="0" err="1">
                <a:effectLst/>
                <a:latin typeface="Söhne"/>
              </a:rPr>
              <a:t>SwiftTech's</a:t>
            </a:r>
            <a:r>
              <a:rPr lang="en-US" b="0" i="0" dirty="0">
                <a:effectLst/>
                <a:latin typeface="Söhne"/>
              </a:rPr>
              <a:t> risk mitigation strategies, </a:t>
            </a:r>
            <a:br>
              <a:rPr lang="en-US" b="0" i="0" dirty="0">
                <a:effectLst/>
                <a:latin typeface="Söhne"/>
              </a:rPr>
            </a:br>
            <a:r>
              <a:rPr lang="en-US" b="0" i="0" dirty="0">
                <a:effectLst/>
                <a:latin typeface="Söhne"/>
              </a:rPr>
              <a:t>offering better security features and continuous monitoring capabilities.</a:t>
            </a:r>
          </a:p>
          <a:p>
            <a:pPr>
              <a:spcBef>
                <a:spcPts val="600"/>
              </a:spcBef>
            </a:pPr>
            <a:endParaRPr lang="en-US" dirty="0"/>
          </a:p>
        </p:txBody>
      </p:sp>
    </p:spTree>
    <p:extLst>
      <p:ext uri="{BB962C8B-B14F-4D97-AF65-F5344CB8AC3E}">
        <p14:creationId xmlns:p14="http://schemas.microsoft.com/office/powerpoint/2010/main" val="2971854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CCB9-EE91-AE3E-D79C-CA14388C1248}"/>
              </a:ext>
            </a:extLst>
          </p:cNvPr>
          <p:cNvSpPr>
            <a:spLocks noGrp="1"/>
          </p:cNvSpPr>
          <p:nvPr>
            <p:ph type="title"/>
          </p:nvPr>
        </p:nvSpPr>
        <p:spPr/>
        <p:txBody>
          <a:bodyPr/>
          <a:lstStyle/>
          <a:p>
            <a:r>
              <a:rPr lang="en-US" dirty="0"/>
              <a:t>Failover and Redundancy Plan</a:t>
            </a:r>
          </a:p>
        </p:txBody>
      </p:sp>
      <p:sp>
        <p:nvSpPr>
          <p:cNvPr id="3" name="Content Placeholder 2">
            <a:extLst>
              <a:ext uri="{FF2B5EF4-FFF2-40B4-BE49-F238E27FC236}">
                <a16:creationId xmlns:a16="http://schemas.microsoft.com/office/drawing/2014/main" id="{6CBF1EF3-D0FD-3979-D8B7-EA347A214C6A}"/>
              </a:ext>
            </a:extLst>
          </p:cNvPr>
          <p:cNvSpPr>
            <a:spLocks noGrp="1"/>
          </p:cNvSpPr>
          <p:nvPr>
            <p:ph sz="quarter" idx="13"/>
          </p:nvPr>
        </p:nvSpPr>
        <p:spPr>
          <a:xfrm>
            <a:off x="1977656" y="2282007"/>
            <a:ext cx="9835115" cy="4575993"/>
          </a:xfrm>
        </p:spPr>
        <p:txBody>
          <a:bodyPr>
            <a:normAutofit fontScale="62500" lnSpcReduction="20000"/>
          </a:bodyPr>
          <a:lstStyle/>
          <a:p>
            <a:pPr algn="l">
              <a:spcBef>
                <a:spcPts val="600"/>
              </a:spcBef>
              <a:buFont typeface="Arial" panose="020B0604020202020204" pitchFamily="34" charset="0"/>
              <a:buChar char="•"/>
            </a:pPr>
            <a:r>
              <a:rPr lang="en-US" b="1" i="0" dirty="0">
                <a:effectLst/>
                <a:latin typeface="Söhne"/>
              </a:rPr>
              <a:t>Overview of Failover and Redundancy Strategies:</a:t>
            </a:r>
            <a:endParaRPr lang="en-US" b="0" i="0" dirty="0">
              <a:effectLst/>
              <a:latin typeface="Söhne"/>
            </a:endParaRPr>
          </a:p>
          <a:p>
            <a:pPr marL="742950" lvl="1" indent="-285750" algn="l">
              <a:spcBef>
                <a:spcPts val="600"/>
              </a:spcBef>
              <a:buFont typeface="Arial" panose="020B0604020202020204" pitchFamily="34" charset="0"/>
              <a:buChar char="•"/>
            </a:pPr>
            <a:r>
              <a:rPr lang="en-US" b="0" i="0" dirty="0" err="1">
                <a:effectLst/>
                <a:latin typeface="Söhne"/>
              </a:rPr>
              <a:t>SwiftTech</a:t>
            </a:r>
            <a:r>
              <a:rPr lang="en-US" b="0" i="0" dirty="0">
                <a:effectLst/>
                <a:latin typeface="Söhne"/>
              </a:rPr>
              <a:t> Solutions Ltd. prioritizes a robust failover and redundancy plan to ensure uninterrupted service delivery and minimize downtime.</a:t>
            </a:r>
          </a:p>
          <a:p>
            <a:pPr algn="l">
              <a:spcBef>
                <a:spcPts val="600"/>
              </a:spcBef>
              <a:buFont typeface="Arial" panose="020B0604020202020204" pitchFamily="34" charset="0"/>
              <a:buChar char="•"/>
            </a:pPr>
            <a:r>
              <a:rPr lang="en-US" b="1" i="0" dirty="0">
                <a:effectLst/>
                <a:latin typeface="Söhne"/>
              </a:rPr>
              <a:t>Importance of Minimizing Downtime:</a:t>
            </a:r>
            <a:endParaRPr lang="en-US" b="0" i="0" dirty="0">
              <a:effectLst/>
              <a:latin typeface="Söhne"/>
            </a:endParaRPr>
          </a:p>
          <a:p>
            <a:pPr marL="742950" lvl="1" indent="-285750" algn="l">
              <a:spcBef>
                <a:spcPts val="600"/>
              </a:spcBef>
              <a:buFont typeface="Arial" panose="020B0604020202020204" pitchFamily="34" charset="0"/>
              <a:buChar char="•"/>
            </a:pPr>
            <a:r>
              <a:rPr lang="en-US" b="0" i="0" dirty="0" err="1">
                <a:effectLst/>
                <a:latin typeface="Söhne"/>
              </a:rPr>
              <a:t>SwiftTech</a:t>
            </a:r>
            <a:r>
              <a:rPr lang="en-US" b="0" i="0" dirty="0">
                <a:effectLst/>
                <a:latin typeface="Söhne"/>
              </a:rPr>
              <a:t> recognizes the critical need to minimize downtime, ensuring continuous availability of services for both internal and external stakeholders.</a:t>
            </a:r>
          </a:p>
          <a:p>
            <a:pPr algn="l">
              <a:spcBef>
                <a:spcPts val="600"/>
              </a:spcBef>
              <a:buFont typeface="Arial" panose="020B0604020202020204" pitchFamily="34" charset="0"/>
              <a:buChar char="•"/>
            </a:pPr>
            <a:r>
              <a:rPr lang="en-US" b="1" i="0" dirty="0">
                <a:effectLst/>
                <a:latin typeface="Söhne"/>
              </a:rPr>
              <a:t>Key Components of the Redundancy Plan:</a:t>
            </a:r>
            <a:endParaRPr lang="en-US" b="0" i="0" dirty="0">
              <a:effectLst/>
              <a:latin typeface="Söhne"/>
            </a:endParaRPr>
          </a:p>
          <a:p>
            <a:pPr marL="742950" lvl="1" indent="-285750" algn="l">
              <a:spcBef>
                <a:spcPts val="600"/>
              </a:spcBef>
              <a:buFont typeface="Arial" panose="020B0604020202020204" pitchFamily="34" charset="0"/>
              <a:buChar char="•"/>
            </a:pPr>
            <a:r>
              <a:rPr lang="en-US" b="1" i="0" dirty="0">
                <a:effectLst/>
                <a:latin typeface="Söhne"/>
              </a:rPr>
              <a:t>Load Balancing:</a:t>
            </a:r>
            <a:endParaRPr lang="en-US" b="0" i="0" dirty="0">
              <a:effectLst/>
              <a:latin typeface="Söhne"/>
            </a:endParaRPr>
          </a:p>
          <a:p>
            <a:pPr marL="1143000" lvl="2" indent="-228600" algn="l">
              <a:spcBef>
                <a:spcPts val="600"/>
              </a:spcBef>
              <a:buFont typeface="Arial" panose="020B0604020202020204" pitchFamily="34" charset="0"/>
              <a:buChar char="•"/>
            </a:pPr>
            <a:r>
              <a:rPr lang="en-US" b="0" i="0" dirty="0" err="1">
                <a:effectLst/>
                <a:latin typeface="Söhne"/>
              </a:rPr>
              <a:t>SwiftTech</a:t>
            </a:r>
            <a:r>
              <a:rPr lang="en-US" b="0" i="0" dirty="0">
                <a:effectLst/>
                <a:latin typeface="Söhne"/>
              </a:rPr>
              <a:t> employs load balancing mechanisms to distribute incoming traffic across multiple servers, ensuring optimal performance and preventing service disruptions.</a:t>
            </a:r>
          </a:p>
          <a:p>
            <a:pPr marL="742950" lvl="1" indent="-285750" algn="l">
              <a:spcBef>
                <a:spcPts val="600"/>
              </a:spcBef>
              <a:buFont typeface="Arial" panose="020B0604020202020204" pitchFamily="34" charset="0"/>
              <a:buChar char="•"/>
            </a:pPr>
            <a:r>
              <a:rPr lang="en-US" b="1" i="0" dirty="0">
                <a:effectLst/>
                <a:latin typeface="Söhne"/>
              </a:rPr>
              <a:t>Multi-Availability Zone Deployment:</a:t>
            </a:r>
            <a:endParaRPr lang="en-US" b="0" i="0" dirty="0">
              <a:effectLst/>
              <a:latin typeface="Söhne"/>
            </a:endParaRPr>
          </a:p>
          <a:p>
            <a:pPr marL="1143000" lvl="2" indent="-228600" algn="l">
              <a:spcBef>
                <a:spcPts val="600"/>
              </a:spcBef>
              <a:buFont typeface="Arial" panose="020B0604020202020204" pitchFamily="34" charset="0"/>
              <a:buChar char="•"/>
            </a:pPr>
            <a:r>
              <a:rPr lang="en-US" b="0" i="0" dirty="0">
                <a:effectLst/>
                <a:latin typeface="Söhne"/>
              </a:rPr>
              <a:t>Utilizing AWS's Multi-Availability Zone deployment ensures redundancy across different physical locations, safeguarding against potential infrastructure failures.</a:t>
            </a:r>
          </a:p>
          <a:p>
            <a:pPr marL="742950" lvl="1" indent="-285750" algn="l">
              <a:spcBef>
                <a:spcPts val="600"/>
              </a:spcBef>
              <a:buFont typeface="Arial" panose="020B0604020202020204" pitchFamily="34" charset="0"/>
              <a:buChar char="•"/>
            </a:pPr>
            <a:r>
              <a:rPr lang="en-US" b="1" i="0" dirty="0">
                <a:effectLst/>
                <a:latin typeface="Söhne"/>
              </a:rPr>
              <a:t>Automated Failover Mechanisms:</a:t>
            </a:r>
            <a:endParaRPr lang="en-US" b="0" i="0" dirty="0">
              <a:effectLst/>
              <a:latin typeface="Söhne"/>
            </a:endParaRPr>
          </a:p>
          <a:p>
            <a:pPr marL="1143000" lvl="2" indent="-228600" algn="l">
              <a:spcBef>
                <a:spcPts val="600"/>
              </a:spcBef>
              <a:buFont typeface="Arial" panose="020B0604020202020204" pitchFamily="34" charset="0"/>
              <a:buChar char="•"/>
            </a:pPr>
            <a:r>
              <a:rPr lang="en-US" b="0" i="0" dirty="0">
                <a:effectLst/>
                <a:latin typeface="Söhne"/>
              </a:rPr>
              <a:t>Automated failover mechanisms are in place to swiftly and seamlessly redirect traffic to healthy servers or instances in the event of a failure, reducing downtime.</a:t>
            </a:r>
          </a:p>
          <a:p>
            <a:pPr marL="742950" lvl="1" indent="-285750" algn="l">
              <a:spcBef>
                <a:spcPts val="600"/>
              </a:spcBef>
              <a:buFont typeface="Arial" panose="020B0604020202020204" pitchFamily="34" charset="0"/>
              <a:buChar char="•"/>
            </a:pPr>
            <a:r>
              <a:rPr lang="en-US" b="1" i="0" dirty="0">
                <a:effectLst/>
                <a:latin typeface="Söhne"/>
              </a:rPr>
              <a:t>Data Replication and Backup:</a:t>
            </a:r>
            <a:endParaRPr lang="en-US" b="0" i="0" dirty="0">
              <a:effectLst/>
              <a:latin typeface="Söhne"/>
            </a:endParaRPr>
          </a:p>
          <a:p>
            <a:pPr marL="1143000" lvl="2" indent="-228600" algn="l">
              <a:spcBef>
                <a:spcPts val="600"/>
              </a:spcBef>
              <a:buFont typeface="Arial" panose="020B0604020202020204" pitchFamily="34" charset="0"/>
              <a:buChar char="•"/>
            </a:pPr>
            <a:r>
              <a:rPr lang="en-US" b="0" i="0" dirty="0" err="1">
                <a:effectLst/>
                <a:latin typeface="Söhne"/>
              </a:rPr>
              <a:t>SwiftTech</a:t>
            </a:r>
            <a:r>
              <a:rPr lang="en-US" b="0" i="0" dirty="0">
                <a:effectLst/>
                <a:latin typeface="Söhne"/>
              </a:rPr>
              <a:t> implements data replication and regular backups to different geographic regions, ensuring data integrity and availability even in the face of unforeseen events.</a:t>
            </a:r>
          </a:p>
          <a:p>
            <a:pPr marL="742950" lvl="1" indent="-285750" algn="l">
              <a:spcBef>
                <a:spcPts val="600"/>
              </a:spcBef>
              <a:buFont typeface="Arial" panose="020B0604020202020204" pitchFamily="34" charset="0"/>
              <a:buChar char="•"/>
            </a:pPr>
            <a:r>
              <a:rPr lang="en-US" b="1" i="0" dirty="0">
                <a:effectLst/>
                <a:latin typeface="Söhne"/>
              </a:rPr>
              <a:t>Elasticity and Scalability:</a:t>
            </a:r>
            <a:endParaRPr lang="en-US" b="0" i="0" dirty="0">
              <a:effectLst/>
              <a:latin typeface="Söhne"/>
            </a:endParaRPr>
          </a:p>
          <a:p>
            <a:pPr marL="1143000" lvl="2" indent="-228600" algn="l">
              <a:spcBef>
                <a:spcPts val="600"/>
              </a:spcBef>
              <a:buFont typeface="Arial" panose="020B0604020202020204" pitchFamily="34" charset="0"/>
              <a:buChar char="•"/>
            </a:pPr>
            <a:r>
              <a:rPr lang="en-US" b="0" i="0" dirty="0">
                <a:effectLst/>
                <a:latin typeface="Söhne"/>
              </a:rPr>
              <a:t>Leveraging AWS's elasticity and scalability features allows </a:t>
            </a:r>
            <a:r>
              <a:rPr lang="en-US" b="0" i="0" dirty="0" err="1">
                <a:effectLst/>
                <a:latin typeface="Söhne"/>
              </a:rPr>
              <a:t>SwiftTech</a:t>
            </a:r>
            <a:r>
              <a:rPr lang="en-US" b="0" i="0" dirty="0">
                <a:effectLst/>
                <a:latin typeface="Söhne"/>
              </a:rPr>
              <a:t> to dynamically adjust resources based on demand, maintaining optimal performance during varying workloads.</a:t>
            </a:r>
          </a:p>
          <a:p>
            <a:pPr>
              <a:spcBef>
                <a:spcPts val="600"/>
              </a:spcBef>
            </a:pPr>
            <a:endParaRPr lang="en-US" dirty="0"/>
          </a:p>
        </p:txBody>
      </p:sp>
    </p:spTree>
    <p:extLst>
      <p:ext uri="{BB962C8B-B14F-4D97-AF65-F5344CB8AC3E}">
        <p14:creationId xmlns:p14="http://schemas.microsoft.com/office/powerpoint/2010/main" val="198033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a:lstStyle/>
          <a:p>
            <a:r>
              <a:rPr lang="en-US" dirty="0"/>
              <a:t>Thank you</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{4B33CD96-346D-458E-8D93-6805D23A1DC8}tf78853419_win32</Template>
  <TotalTime>122</TotalTime>
  <Words>2032</Words>
  <Application>Microsoft Office PowerPoint</Application>
  <PresentationFormat>Widescreen</PresentationFormat>
  <Paragraphs>221</Paragraphs>
  <Slides>15</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Franklin Gothic Book</vt:lpstr>
      <vt:lpstr>Franklin Gothic Demi</vt:lpstr>
      <vt:lpstr>Söhne</vt:lpstr>
      <vt:lpstr>Custom</vt:lpstr>
      <vt:lpstr>Cloud Security Framework for SwiftTech Solutions Ltd.</vt:lpstr>
      <vt:lpstr>Agenda</vt:lpstr>
      <vt:lpstr>Introduction</vt:lpstr>
      <vt:lpstr>Framework Overview</vt:lpstr>
      <vt:lpstr>Developed Framework - Key Components</vt:lpstr>
      <vt:lpstr>Developed Framework - Document Database</vt:lpstr>
      <vt:lpstr>Business Risks and Potential Threats</vt:lpstr>
      <vt:lpstr>Impact on Operations &amp; Modern Workplace</vt:lpstr>
      <vt:lpstr>Risk Associated With Each Assets</vt:lpstr>
      <vt:lpstr>Risk Associated with Each Asset</vt:lpstr>
      <vt:lpstr>Impact Assessment of Identified Risks</vt:lpstr>
      <vt:lpstr>Risk Mitigation Strategies</vt:lpstr>
      <vt:lpstr>Supporting Industry Cloud Tools</vt:lpstr>
      <vt:lpstr>Failover and Redundancy Plan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Security Framework for SwiftTech Solutions Ltd.</dc:title>
  <dc:creator>02-136221-012</dc:creator>
  <cp:lastModifiedBy>02-136221-012</cp:lastModifiedBy>
  <cp:revision>1</cp:revision>
  <dcterms:created xsi:type="dcterms:W3CDTF">2024-02-02T07:45:04Z</dcterms:created>
  <dcterms:modified xsi:type="dcterms:W3CDTF">2024-02-02T09:48:00Z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