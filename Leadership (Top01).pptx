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9" autoAdjust="0"/>
    <p:restoredTop sz="94660"/>
  </p:normalViewPr>
  <p:slideViewPr>
    <p:cSldViewPr snapToGrid="0">
      <p:cViewPr varScale="1">
        <p:scale>
          <a:sx n="58" d="100"/>
          <a:sy n="58" d="100"/>
        </p:scale>
        <p:origin x="66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8706-2C89-E82E-70D0-FF180DEB6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3FB8A-FE59-4891-CD4C-51BCBEA20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79967-7B25-A3C2-094B-710391D2F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1A901-4299-94E9-5F41-77221B93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59247-B3F0-EDE0-CB01-73D55403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63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5423-C07D-59B1-8E3D-D541C273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B9CA-1F3E-A573-3DFC-1A2A202FF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E116-75C0-2845-0316-1B148D5F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7F5A4-9061-7B56-B148-687A52E76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226D2-9C0C-DD4E-4101-4AD3422D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00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E2CA-0781-BF05-4219-91CB0FF8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490B8-8767-2D1C-AF6F-D3760055C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F40D3-08C6-B015-427D-4ACFCD460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06817-2564-1B6C-4C16-24C7711B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6B940-F2B1-DE8E-B51E-1C5D226A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28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6866-F436-5E51-1512-3C086311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93CC-A7AA-5C04-182A-839F637761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ECEC6-B19C-63F7-BD35-77C7C8A39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879B4-9993-5FD5-2402-5BFFAE3E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E3FDC-A9CD-C798-28EF-C0842CDA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7C616-01DE-950F-6AE9-DA8F6626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38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3C42-B0CC-1764-8556-FC59864A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CB43-EB2E-4589-FB47-F168132C5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7CA07-5E30-08EF-EB66-44A0290E5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1A24F-2ACA-D6CD-AB1F-FD8F2F62E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03FEF-E73A-9F11-613C-F91EC7E97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07860-596C-E40A-CDD3-13C4602E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89DAC-CE8C-4C99-BB1B-A727E479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75AEF-0826-9BC8-BB5C-ABF54C02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8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C680-FCB0-3272-5EE2-72A96B93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E4166-0082-8C99-45FE-6CA88153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C4832-BAB3-2D47-9C31-31E3B0005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58F58-FB26-5DB4-FB4E-4A5F9711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75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579E3-AE40-5240-58CF-4803CFEC0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3525C-8476-55EF-E2CA-03A5BA48F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C5EB1-658B-BBFC-FE73-19967FF8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40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9C065-1231-A174-7C2C-5E73C1C6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B31B4-8A2E-5842-E432-CC84CD745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76642-012D-A134-C48D-85367C2ED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2A3E9-9516-3559-02C5-B883ECB9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A0B75-0C76-9CF5-E807-C23825DB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8C774-3346-86A1-48C6-B02ABA18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15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F5D3-5AF7-1530-8727-81729E51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E5DA34-2A8E-C765-CC6E-3E6B36E9B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A47A5-E614-9543-8794-42D21C46A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A8FD3-2EE7-D76D-3694-691C733E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550FB-3C63-2E1C-FA88-F3FA447D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2CAAC-1137-2DAA-0E2D-C82CC594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3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645F9-2433-2035-1FE8-A19F61FC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DCECC-B505-3A44-2BB5-3DE5C90A5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8F298-C8C3-15DD-57B2-D6562D55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EF076-2DE6-B81B-1389-93A906111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94D82-5836-9089-6FE0-9FB644BF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7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1118C-1440-5A3B-5DF7-A4AB3991A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1F24E-20B8-7539-E3E9-242B06A7E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FFA2E-CDB2-6D6A-BE70-94AD09A4D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4DA0B-7A1B-D937-568A-EB80C4A2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0ACC3-FE0B-8E5F-0E0C-AC6E3559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82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A3026-4DC6-CE85-C0AE-6541486D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B7390-D848-6660-8624-2AC5FB3C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28301-6BAC-B8FF-28FF-6759E08D9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7B4CA-77FB-4999-93F9-C155BD92645C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0A811-2C53-0516-EFF8-4F5411FFE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06401-69B1-945B-CBC9-68D811764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8B543-11D4-46A2-A51E-EE8157A8A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24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6B67-10D3-BD89-B4CD-CF27B0E43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8174"/>
            <a:ext cx="9144000" cy="1092331"/>
          </a:xfrm>
        </p:spPr>
        <p:txBody>
          <a:bodyPr>
            <a:normAutofit/>
          </a:bodyPr>
          <a:lstStyle/>
          <a:p>
            <a:r>
              <a:rPr lang="en-GB" dirty="0"/>
              <a:t>Leadership (Top.01.)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7A3C6-9660-569C-CDCF-1C1269D05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1982"/>
            <a:ext cx="9144000" cy="3735513"/>
          </a:xfrm>
        </p:spPr>
        <p:txBody>
          <a:bodyPr>
            <a:normAutofit/>
          </a:bodyPr>
          <a:lstStyle/>
          <a:p>
            <a:pPr marL="1254125" indent="-1254125" algn="l"/>
            <a:r>
              <a:rPr lang="en-GB" b="1" dirty="0"/>
              <a:t>Purpose</a:t>
            </a:r>
            <a:r>
              <a:rPr lang="en-GB" dirty="0"/>
              <a:t>: Direct Organization through implementing the management system.</a:t>
            </a:r>
          </a:p>
          <a:p>
            <a:pPr algn="l"/>
            <a:r>
              <a:rPr lang="en-GB" b="1" dirty="0"/>
              <a:t>Outcomes:</a:t>
            </a:r>
            <a:r>
              <a:rPr lang="en-GB" dirty="0"/>
              <a:t>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Context of Organisation is understood.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Scope is defined.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MSP Policies and Objectives are defined.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Operational process strategy is determined.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Demonstrate Commitment to the management system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78B10-317A-26AD-C709-EADE19501FC4}"/>
              </a:ext>
            </a:extLst>
          </p:cNvPr>
          <p:cNvCxnSpPr/>
          <p:nvPr/>
        </p:nvCxnSpPr>
        <p:spPr>
          <a:xfrm>
            <a:off x="1524000" y="1380505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12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6B67-10D3-BD89-B4CD-CF27B0E43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88174"/>
            <a:ext cx="12419214" cy="1092331"/>
          </a:xfrm>
        </p:spPr>
        <p:txBody>
          <a:bodyPr>
            <a:normAutofit/>
          </a:bodyPr>
          <a:lstStyle/>
          <a:p>
            <a:r>
              <a:rPr lang="en-GB" sz="4800" dirty="0"/>
              <a:t>Communication management (COM.02.)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7A3C6-9660-569C-CDCF-1C1269D05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1982"/>
            <a:ext cx="9144000" cy="3735513"/>
          </a:xfrm>
        </p:spPr>
        <p:txBody>
          <a:bodyPr>
            <a:normAutofit/>
          </a:bodyPr>
          <a:lstStyle/>
          <a:p>
            <a:pPr marL="1254125" indent="-1254125" algn="l"/>
            <a:r>
              <a:rPr lang="en-GB" b="1" dirty="0"/>
              <a:t>Purpose</a:t>
            </a:r>
            <a:r>
              <a:rPr lang="en-GB" dirty="0"/>
              <a:t>: Communicate up to date information across organisation.</a:t>
            </a:r>
          </a:p>
          <a:p>
            <a:pPr algn="l"/>
            <a:r>
              <a:rPr lang="en-GB" b="1" dirty="0"/>
              <a:t>Outcomes:</a:t>
            </a:r>
            <a:r>
              <a:rPr lang="en-GB" dirty="0"/>
              <a:t>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Content of the communication is defined. In plain language.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Parties to communication with are identified.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Communication events and action are identified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The channels for the communication are selected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Operational process strategy is determined.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The communicated information is available to all interested parties.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78B10-317A-26AD-C709-EADE19501FC4}"/>
              </a:ext>
            </a:extLst>
          </p:cNvPr>
          <p:cNvCxnSpPr/>
          <p:nvPr/>
        </p:nvCxnSpPr>
        <p:spPr>
          <a:xfrm>
            <a:off x="1524000" y="1380505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92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6B67-10D3-BD89-B4CD-CF27B0E43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88174"/>
            <a:ext cx="12419214" cy="1092331"/>
          </a:xfrm>
        </p:spPr>
        <p:txBody>
          <a:bodyPr>
            <a:normAutofit/>
          </a:bodyPr>
          <a:lstStyle/>
          <a:p>
            <a:r>
              <a:rPr lang="en-GB" sz="4800" dirty="0"/>
              <a:t>Human Resource Management (COM.03.)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7A3C6-9660-569C-CDCF-1C1269D05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1982"/>
            <a:ext cx="9144000" cy="3735513"/>
          </a:xfrm>
        </p:spPr>
        <p:txBody>
          <a:bodyPr>
            <a:normAutofit/>
          </a:bodyPr>
          <a:lstStyle/>
          <a:p>
            <a:pPr marL="1254125" indent="-1254125" algn="l"/>
            <a:r>
              <a:rPr lang="en-GB" b="1" dirty="0"/>
              <a:t>Purpose</a:t>
            </a:r>
            <a:r>
              <a:rPr lang="en-GB" dirty="0"/>
              <a:t>: Provide competent human recourses to the organisation and ensure their competence and improvement </a:t>
            </a:r>
          </a:p>
          <a:p>
            <a:pPr algn="l"/>
            <a:r>
              <a:rPr lang="en-GB" b="1" dirty="0"/>
              <a:t>Outcomes:</a:t>
            </a:r>
            <a:r>
              <a:rPr lang="en-GB" dirty="0"/>
              <a:t>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Competencies required are defined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Fill competencies gaps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Understand roles and responsibilities within organisation.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78B10-317A-26AD-C709-EADE19501FC4}"/>
              </a:ext>
            </a:extLst>
          </p:cNvPr>
          <p:cNvCxnSpPr/>
          <p:nvPr/>
        </p:nvCxnSpPr>
        <p:spPr>
          <a:xfrm>
            <a:off x="1524000" y="1380505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51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6B67-10D3-BD89-B4CD-CF27B0E43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88174"/>
            <a:ext cx="12419214" cy="1092331"/>
          </a:xfrm>
        </p:spPr>
        <p:txBody>
          <a:bodyPr>
            <a:normAutofit/>
          </a:bodyPr>
          <a:lstStyle/>
          <a:p>
            <a:r>
              <a:rPr lang="en-GB" sz="4800" dirty="0"/>
              <a:t>Improvement (COM.04.)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7A3C6-9660-569C-CDCF-1C1269D05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1982"/>
            <a:ext cx="9144000" cy="3735513"/>
          </a:xfrm>
        </p:spPr>
        <p:txBody>
          <a:bodyPr>
            <a:normAutofit/>
          </a:bodyPr>
          <a:lstStyle/>
          <a:p>
            <a:pPr marL="1254125" indent="-1254125" algn="l"/>
            <a:r>
              <a:rPr lang="en-GB" b="1" dirty="0"/>
              <a:t>Purpose</a:t>
            </a:r>
            <a:r>
              <a:rPr lang="en-GB" dirty="0"/>
              <a:t>: Continues improvement of the management system, its processes products, and services </a:t>
            </a:r>
          </a:p>
          <a:p>
            <a:pPr marL="1254125" indent="-1254125" algn="l"/>
            <a:r>
              <a:rPr lang="en-GB" b="1" dirty="0"/>
              <a:t>Outcomes:</a:t>
            </a:r>
            <a:r>
              <a:rPr lang="en-GB" dirty="0"/>
              <a:t>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Areas of improvement are defined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The areas of improvement are evaluated against expectations.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Improvements are prioritised.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Improvements are implemented.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The efficiency of the improvements are measured and evaluated.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78B10-317A-26AD-C709-EADE19501FC4}"/>
              </a:ext>
            </a:extLst>
          </p:cNvPr>
          <p:cNvCxnSpPr/>
          <p:nvPr/>
        </p:nvCxnSpPr>
        <p:spPr>
          <a:xfrm>
            <a:off x="1524000" y="1380505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89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6B67-10D3-BD89-B4CD-CF27B0E43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88174"/>
            <a:ext cx="12419214" cy="1092331"/>
          </a:xfrm>
        </p:spPr>
        <p:txBody>
          <a:bodyPr>
            <a:normAutofit/>
          </a:bodyPr>
          <a:lstStyle/>
          <a:p>
            <a:r>
              <a:rPr lang="en-GB" sz="4800" dirty="0"/>
              <a:t>Internal audit (COM.05.)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7A3C6-9660-569C-CDCF-1C1269D05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1982"/>
            <a:ext cx="9144000" cy="3735513"/>
          </a:xfrm>
        </p:spPr>
        <p:txBody>
          <a:bodyPr>
            <a:normAutofit/>
          </a:bodyPr>
          <a:lstStyle/>
          <a:p>
            <a:pPr marL="1254125" indent="-1254125" algn="l"/>
            <a:r>
              <a:rPr lang="en-GB" b="1" dirty="0"/>
              <a:t>Purpose</a:t>
            </a:r>
            <a:r>
              <a:rPr lang="en-GB" dirty="0"/>
              <a:t>: Independently challenge the competence of management system, products services, processes, requirements policies, plans, agreements as appropriate. </a:t>
            </a:r>
          </a:p>
          <a:p>
            <a:pPr marL="1254125" indent="-1254125" algn="l"/>
            <a:r>
              <a:rPr lang="en-GB" b="1" dirty="0"/>
              <a:t>Outcomes:</a:t>
            </a:r>
            <a:r>
              <a:rPr lang="en-GB" dirty="0"/>
              <a:t>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Scope and purpose of each audit is defined.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The auditors are verified.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Improvements are prioritised.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Regulation of selected services products and processes with requirements , plans and agreements are defined.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78B10-317A-26AD-C709-EADE19501FC4}"/>
              </a:ext>
            </a:extLst>
          </p:cNvPr>
          <p:cNvCxnSpPr/>
          <p:nvPr/>
        </p:nvCxnSpPr>
        <p:spPr>
          <a:xfrm>
            <a:off x="1524000" y="1380505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080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6B67-10D3-BD89-B4CD-CF27B0E43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88174"/>
            <a:ext cx="12419214" cy="1092331"/>
          </a:xfrm>
        </p:spPr>
        <p:txBody>
          <a:bodyPr>
            <a:normAutofit/>
          </a:bodyPr>
          <a:lstStyle/>
          <a:p>
            <a:r>
              <a:rPr lang="en-GB" sz="4800" dirty="0"/>
              <a:t>Management review(COM.06.)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7A3C6-9660-569C-CDCF-1C1269D05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1982"/>
            <a:ext cx="9144000" cy="3735513"/>
          </a:xfrm>
        </p:spPr>
        <p:txBody>
          <a:bodyPr>
            <a:normAutofit/>
          </a:bodyPr>
          <a:lstStyle/>
          <a:p>
            <a:pPr marL="1254125" indent="-1254125" algn="l"/>
            <a:r>
              <a:rPr lang="en-GB" b="1" dirty="0"/>
              <a:t>Purpose</a:t>
            </a:r>
            <a:r>
              <a:rPr lang="en-GB" dirty="0"/>
              <a:t>: Assesses and evaluate the performance of the management system to identify areas of potential improvements. </a:t>
            </a:r>
          </a:p>
          <a:p>
            <a:pPr marL="1254125" indent="-1254125" algn="l"/>
            <a:r>
              <a:rPr lang="en-GB" b="1" dirty="0"/>
              <a:t>Outcomes:</a:t>
            </a:r>
            <a:r>
              <a:rPr lang="en-GB" dirty="0"/>
              <a:t> 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Objectives of the reviews are defined.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The status and KPI`s of an activity or process are assessed in terms of objectives.</a:t>
            </a:r>
          </a:p>
          <a:p>
            <a:pPr marL="1079500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Risk, problems and opportunities for improvement are identified.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78B10-317A-26AD-C709-EADE19501FC4}"/>
              </a:ext>
            </a:extLst>
          </p:cNvPr>
          <p:cNvCxnSpPr/>
          <p:nvPr/>
        </p:nvCxnSpPr>
        <p:spPr>
          <a:xfrm>
            <a:off x="1524000" y="1380505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171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336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Leadership (Top.01.)</vt:lpstr>
      <vt:lpstr>Communication management (COM.02.)</vt:lpstr>
      <vt:lpstr>Human Resource Management (COM.03.)</vt:lpstr>
      <vt:lpstr>Improvement (COM.04.)</vt:lpstr>
      <vt:lpstr>Internal audit (COM.05.)</vt:lpstr>
      <vt:lpstr>Management review(COM.06.)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Leadership (Top01.)</dc:title>
  <dc:creator>G Dobos</dc:creator>
  <cp:lastModifiedBy>G Dobos</cp:lastModifiedBy>
  <cp:revision>2</cp:revision>
  <dcterms:created xsi:type="dcterms:W3CDTF">2023-11-07T16:25:53Z</dcterms:created>
  <dcterms:modified xsi:type="dcterms:W3CDTF">2023-11-07T17:38:37Z</dcterms:modified>
</cp:coreProperties>
</file>